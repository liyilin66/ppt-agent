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BF8"/>
          </a:solidFill>
          <a:ln>
            <a:solidFill>
              <a:srgbClr val="F3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713232"/>
            <a:ext cx="2331720" cy="5212080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1133856"/>
            <a:ext cx="2057400" cy="21945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23960" y="1920240"/>
            <a:ext cx="1005840" cy="100584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84080" y="2816352"/>
            <a:ext cx="1170432" cy="1170432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34272" y="4736592"/>
            <a:ext cx="1572768" cy="1097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841248"/>
            <a:ext cx="82296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10128"/>
            <a:ext cx="329184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5216"/>
            <a:ext cx="2926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2563EB"/>
                </a:solidFill>
                <a:latin typeface="Aptos"/>
              </a:rPr>
              <a:t>技术产品分享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25296"/>
            <a:ext cx="71780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111827"/>
                </a:solidFill>
                <a:latin typeface="Aptos Display"/>
              </a:rPr>
              <a:t>AI 产品经理如何设计 Agent 产品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40864"/>
            <a:ext cx="693115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4B5563"/>
                </a:solidFill>
                <a:latin typeface="Aptos"/>
              </a:rPr>
              <a:t>从需求到工作流：用边界、指标和风险控制设计可落地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4956048"/>
            <a:ext cx="2084831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1" i="0">
                <a:solidFill>
                  <a:srgbClr val="2563EB"/>
                </a:solidFill>
                <a:latin typeface="Aptos"/>
              </a:rPr>
              <a:t>技术产品视角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责任边界先被重新定义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20116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74959" cy="566928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36192"/>
            <a:ext cx="17282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 b="1" i="0">
                <a:solidFill>
                  <a:srgbClr val="2563EB"/>
                </a:solidFill>
                <a:latin typeface="Aptos"/>
              </a:rPr>
              <a:t>对比维度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472184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方案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472184"/>
            <a:ext cx="32566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 i="0">
                <a:solidFill>
                  <a:srgbClr val="111827"/>
                </a:solidFill>
                <a:latin typeface="Aptos"/>
              </a:rPr>
              <a:t>传统软件产品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9139" y="1472184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0F766E"/>
                </a:solidFill>
                <a:latin typeface="Aptos"/>
              </a:rPr>
              <a:t>方案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099" y="1472184"/>
            <a:ext cx="32566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 i="0">
                <a:solidFill>
                  <a:srgbClr val="111827"/>
                </a:solidFill>
                <a:latin typeface="Aptos"/>
              </a:rPr>
              <a:t>AI Agent 产品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10874959" cy="530352"/>
          </a:xfrm>
          <a:prstGeom prst="rect">
            <a:avLst/>
          </a:prstGeom>
          <a:solidFill>
            <a:srgbClr val="F3FBF8"/>
          </a:solidFill>
          <a:ln w="762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075688"/>
            <a:ext cx="17282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19" b="1" i="0">
                <a:solidFill>
                  <a:srgbClr val="111827"/>
                </a:solidFill>
                <a:latin typeface="Aptos"/>
              </a:rPr>
              <a:t>输入输出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057400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用户发起明确操作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9139" y="2057400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Agent 拆解目标并调用工具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50592"/>
            <a:ext cx="10874959" cy="530352"/>
          </a:xfrm>
          <a:prstGeom prst="rect">
            <a:avLst/>
          </a:prstGeom>
          <a:solidFill>
            <a:srgbClr val="E6F4F1"/>
          </a:solidFill>
          <a:ln w="762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606040"/>
            <a:ext cx="17282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19" b="1" i="0">
                <a:solidFill>
                  <a:srgbClr val="111827"/>
                </a:solidFill>
                <a:latin typeface="Aptos"/>
              </a:rPr>
              <a:t>状态管理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587752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系统按规则返回结果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9139" y="2587752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结果受模型、数据与环境共同影响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980944"/>
            <a:ext cx="10874959" cy="530352"/>
          </a:xfrm>
          <a:prstGeom prst="rect">
            <a:avLst/>
          </a:prstGeom>
          <a:solidFill>
            <a:srgbClr val="F3FBF8"/>
          </a:solidFill>
          <a:ln w="762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136391"/>
            <a:ext cx="17282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19" b="1" i="0">
                <a:solidFill>
                  <a:srgbClr val="111827"/>
                </a:solidFill>
                <a:latin typeface="Aptos"/>
              </a:rPr>
              <a:t>工具调用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118103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产品经理主要定义页面、流程与权限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9139" y="3118103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产品经理必须定义技术边界、干预点与失败处理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15768" y="1353312"/>
            <a:ext cx="18288" cy="2157984"/>
          </a:xfrm>
          <a:prstGeom prst="rect">
            <a:avLst/>
          </a:prstGeom>
          <a:solidFill>
            <a:srgbClr val="F3FBF8"/>
          </a:solidFill>
          <a:ln>
            <a:solidFill>
              <a:srgbClr val="F3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24547" y="1353312"/>
            <a:ext cx="18288" cy="2157984"/>
          </a:xfrm>
          <a:prstGeom prst="rect">
            <a:avLst/>
          </a:prstGeom>
          <a:solidFill>
            <a:srgbClr val="F3FBF8"/>
          </a:solidFill>
          <a:ln>
            <a:solidFill>
              <a:srgbClr val="F3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7007" y="5440680"/>
            <a:ext cx="9777679" cy="512064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9616" y="5568696"/>
            <a:ext cx="91924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11827"/>
                </a:solidFill>
                <a:latin typeface="Aptos"/>
              </a:rPr>
              <a:t>判断规则：先界定 Agent 可以自主决策什么，再设计用户确认、回退与审计机制。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111827"/>
                </a:solidFill>
                <a:latin typeface="Aptos Display"/>
              </a:rPr>
              <a:t>技术边界决定产品承诺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9848"/>
            <a:ext cx="1298448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3657600" cy="3977639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65760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65576" y="1636776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664208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618488"/>
            <a:ext cx="25420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核心观点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947672"/>
            <a:ext cx="32186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11827"/>
                </a:solidFill>
                <a:latin typeface="Aptos"/>
              </a:rPr>
              <a:t>模型能力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478024"/>
            <a:ext cx="3218688" cy="2715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4B5563"/>
                </a:solidFill>
                <a:latin typeface="Aptos"/>
              </a:rPr>
              <a:t>理解 Agent 的推理、记忆、多轮上下文与幻觉边界。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6008" y="1417320"/>
            <a:ext cx="6961327" cy="1860803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36008" y="1417320"/>
            <a:ext cx="6961327" cy="7315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10951" y="1636776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4103" y="1664208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5464" y="1618488"/>
            <a:ext cx="58457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0F766E"/>
                </a:solidFill>
                <a:latin typeface="Aptos"/>
              </a:rPr>
              <a:t>支撑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1947672"/>
            <a:ext cx="6522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20" b="1" i="0">
                <a:solidFill>
                  <a:srgbClr val="111827"/>
                </a:solidFill>
                <a:latin typeface="Aptos"/>
              </a:rPr>
              <a:t>工具边界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2478024"/>
            <a:ext cx="6522415" cy="598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 i="0">
                <a:solidFill>
                  <a:srgbClr val="4B5563"/>
                </a:solidFill>
                <a:latin typeface="Aptos"/>
              </a:rPr>
              <a:t>明确 API、权限、数据可用性与执行失败的处理方式。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6008" y="3534155"/>
            <a:ext cx="6961327" cy="1860803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36008" y="3534155"/>
            <a:ext cx="6961327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10951" y="3753611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4103" y="3781044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735323"/>
            <a:ext cx="58457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F59E0B"/>
                </a:solidFill>
                <a:latin typeface="Aptos"/>
              </a:rPr>
              <a:t>支撑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4064507"/>
            <a:ext cx="6522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20" b="1" i="0">
                <a:solidFill>
                  <a:srgbClr val="111827"/>
                </a:solidFill>
                <a:latin typeface="Aptos"/>
              </a:rPr>
              <a:t>产品承诺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4594859"/>
            <a:ext cx="6522415" cy="598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 i="0">
                <a:solidFill>
                  <a:srgbClr val="4B5563"/>
                </a:solidFill>
                <a:latin typeface="Aptos"/>
              </a:rPr>
              <a:t>产品经理只承诺可验证、可回退、可监控的结果。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111827"/>
                </a:solidFill>
                <a:latin typeface="Aptos Display"/>
              </a:rPr>
              <a:t>需求分析要落到可执行任务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9848"/>
            <a:ext cx="1298448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3657600" cy="3977639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65760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65576" y="1636776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664208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618488"/>
            <a:ext cx="25420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核心观点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947672"/>
            <a:ext cx="32186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11827"/>
                </a:solidFill>
                <a:latin typeface="Aptos"/>
              </a:rPr>
              <a:t>用户场景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478024"/>
            <a:ext cx="3218688" cy="2715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4B5563"/>
                </a:solidFill>
                <a:latin typeface="Aptos"/>
              </a:rPr>
              <a:t>识别高频、耗时、规则明确且结果可验收的工作。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6008" y="1417320"/>
            <a:ext cx="6961327" cy="1860803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36008" y="1417320"/>
            <a:ext cx="6961327" cy="7315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10951" y="1636776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4103" y="1664208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5464" y="1618488"/>
            <a:ext cx="58457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0F766E"/>
                </a:solidFill>
                <a:latin typeface="Aptos"/>
              </a:rPr>
              <a:t>支撑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1947672"/>
            <a:ext cx="6522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20" b="1" i="0">
                <a:solidFill>
                  <a:srgbClr val="111827"/>
                </a:solidFill>
                <a:latin typeface="Aptos"/>
              </a:rPr>
              <a:t>任务拆解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2478024"/>
            <a:ext cx="6522415" cy="598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 i="0">
                <a:solidFill>
                  <a:srgbClr val="4B5563"/>
                </a:solidFill>
                <a:latin typeface="Aptos"/>
              </a:rPr>
              <a:t>把意图拆成输入、约束、工具调用与交付物。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6008" y="3534155"/>
            <a:ext cx="6961327" cy="1860803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36008" y="3534155"/>
            <a:ext cx="6961327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10951" y="3753611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4103" y="3781044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735323"/>
            <a:ext cx="58457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F59E0B"/>
                </a:solidFill>
                <a:latin typeface="Aptos"/>
              </a:rPr>
              <a:t>支撑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4064507"/>
            <a:ext cx="6522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20" b="1" i="0">
                <a:solidFill>
                  <a:srgbClr val="111827"/>
                </a:solidFill>
                <a:latin typeface="Aptos"/>
              </a:rPr>
              <a:t>验收标准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4594859"/>
            <a:ext cx="6522415" cy="598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 i="0">
                <a:solidFill>
                  <a:srgbClr val="4B5563"/>
                </a:solidFill>
                <a:latin typeface="Aptos"/>
              </a:rPr>
              <a:t>定义准确率、时延、人工介入率与落地风险阈值。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工作流设计决定 Agent 可控性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20116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189655" y="2203703"/>
            <a:ext cx="201168" cy="0"/>
          </a:xfrm>
          <a:prstGeom prst="line">
            <a:avLst/>
          </a:prstGeom>
          <a:ln w="12700">
            <a:solidFill>
              <a:srgbClr val="E6F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95263" y="2203703"/>
            <a:ext cx="201168" cy="0"/>
          </a:xfrm>
          <a:prstGeom prst="line">
            <a:avLst/>
          </a:prstGeom>
          <a:ln w="12700">
            <a:solidFill>
              <a:srgbClr val="E6F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800871" y="2203703"/>
            <a:ext cx="201168" cy="0"/>
          </a:xfrm>
          <a:prstGeom prst="line">
            <a:avLst/>
          </a:prstGeom>
          <a:ln w="12700">
            <a:solidFill>
              <a:srgbClr val="E6F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874519"/>
            <a:ext cx="2494711" cy="196596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2039112"/>
            <a:ext cx="530352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12263"/>
            <a:ext cx="310896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3FBF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14600"/>
            <a:ext cx="20557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60" b="1" i="0">
                <a:solidFill>
                  <a:srgbClr val="111827"/>
                </a:solidFill>
                <a:latin typeface="Aptos"/>
              </a:rPr>
              <a:t>任务触发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62072"/>
            <a:ext cx="205579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明确用户意图、输入来源和授权条件。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5687" y="1874519"/>
            <a:ext cx="2494711" cy="196596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46855" y="2039112"/>
            <a:ext cx="530352" cy="32918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6583" y="2112263"/>
            <a:ext cx="310896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3FBF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5143" y="2514600"/>
            <a:ext cx="20557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60" b="1" i="0">
                <a:solidFill>
                  <a:srgbClr val="111827"/>
                </a:solidFill>
                <a:latin typeface="Aptos"/>
              </a:rPr>
              <a:t>计划拆解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143" y="2862072"/>
            <a:ext cx="205579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把目标拆成可验证的子任务和依赖关系。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1295" y="1874519"/>
            <a:ext cx="2494711" cy="196596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2463" y="2039112"/>
            <a:ext cx="530352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2191" y="2112263"/>
            <a:ext cx="310896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3FBF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751" y="2514600"/>
            <a:ext cx="20557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60" b="1" i="0">
                <a:solidFill>
                  <a:srgbClr val="111827"/>
                </a:solidFill>
                <a:latin typeface="Aptos"/>
              </a:rPr>
              <a:t>工具调用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0751" y="2862072"/>
            <a:ext cx="205579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定义工具边界、失败回退和人工确认点。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6903" y="1874519"/>
            <a:ext cx="2494711" cy="196596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58071" y="2039112"/>
            <a:ext cx="530352" cy="32918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7799" y="2112263"/>
            <a:ext cx="310896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3FBF8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6359" y="2514600"/>
            <a:ext cx="20557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60" b="1" i="0">
                <a:solidFill>
                  <a:srgbClr val="111827"/>
                </a:solidFill>
                <a:latin typeface="Aptos"/>
              </a:rPr>
              <a:t>结果交付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6359" y="2862072"/>
            <a:ext cx="205579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输出要可追溯、可编辑、可中止。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评估指标要同时看效果与风险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23444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5291175" cy="1572768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91440" cy="15727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591056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536192"/>
            <a:ext cx="426704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111827"/>
                </a:solidFill>
                <a:latin typeface="Aptos"/>
              </a:rPr>
              <a:t>任务成功率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084831"/>
            <a:ext cx="426704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0" b="0" i="0">
                <a:solidFill>
                  <a:srgbClr val="4B5563"/>
                </a:solidFill>
                <a:latin typeface="Aptos"/>
              </a:rPr>
              <a:t>衡量 AI Agent 是否完成真实业务目标。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2151" y="1335024"/>
            <a:ext cx="5291175" cy="1572768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2151" y="1335024"/>
            <a:ext cx="91440" cy="157276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4759" y="1591056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8535" y="1536192"/>
            <a:ext cx="426704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111827"/>
                </a:solidFill>
                <a:latin typeface="Aptos"/>
              </a:rPr>
              <a:t>干预成本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8535" y="2084831"/>
            <a:ext cx="426704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0" b="0" i="0">
                <a:solidFill>
                  <a:srgbClr val="4B5563"/>
                </a:solidFill>
                <a:latin typeface="Aptos"/>
              </a:rPr>
              <a:t>记录产品经理需设计的确认、纠错与接管频率。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218688"/>
            <a:ext cx="5291175" cy="1572768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218688"/>
            <a:ext cx="91440" cy="15727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474720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419856"/>
            <a:ext cx="426704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111827"/>
                </a:solidFill>
                <a:latin typeface="Aptos"/>
              </a:rPr>
              <a:t>技术边界命中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968496"/>
            <a:ext cx="426704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0" b="0" i="0">
                <a:solidFill>
                  <a:srgbClr val="4B5563"/>
                </a:solidFill>
                <a:latin typeface="Aptos"/>
              </a:rPr>
              <a:t>监控模型、工具和权限限制导致的失败。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2151" y="3218688"/>
            <a:ext cx="5291175" cy="1572768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2151" y="3218688"/>
            <a:ext cx="91440" cy="15727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4759" y="3474720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8535" y="3419856"/>
            <a:ext cx="426704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111827"/>
                </a:solidFill>
                <a:latin typeface="Aptos"/>
              </a:rPr>
              <a:t>落地风险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8535" y="3968496"/>
            <a:ext cx="426704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0" b="0" i="0">
                <a:solidFill>
                  <a:srgbClr val="4B5563"/>
                </a:solidFill>
                <a:latin typeface="Aptos"/>
              </a:rPr>
              <a:t>跟踪错误执行、越权操作和用户信任损耗。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落地风险需要前置治理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20116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11535" cy="43891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90472"/>
            <a:ext cx="381719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F3FBF8"/>
                </a:solidFill>
                <a:latin typeface="Aptos"/>
              </a:rPr>
              <a:t>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1055" y="1490472"/>
            <a:ext cx="18531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F3FBF8"/>
                </a:solidFill>
                <a:latin typeface="Aptos"/>
              </a:rPr>
              <a:t>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3362" y="1490472"/>
            <a:ext cx="42536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F3FBF8"/>
                </a:solidFill>
                <a:latin typeface="Aptos"/>
              </a:rPr>
              <a:t>缓解措施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10512"/>
            <a:ext cx="10911535" cy="841248"/>
          </a:xfrm>
          <a:prstGeom prst="rect">
            <a:avLst/>
          </a:prstGeom>
          <a:solidFill>
            <a:srgbClr val="F3FBF8"/>
          </a:solidFill>
          <a:ln w="1016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10512"/>
            <a:ext cx="73152" cy="8412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975104"/>
            <a:ext cx="38171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1" i="0">
                <a:solidFill>
                  <a:srgbClr val="111827"/>
                </a:solidFill>
                <a:latin typeface="Aptos"/>
              </a:rPr>
              <a:t>AI Agent 越权调用工具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1055" y="1975104"/>
            <a:ext cx="185312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误操作业务系统或泄露数据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3362" y="1975104"/>
            <a:ext cx="4253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按角色授权，关键动作二次确认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911535" cy="841248"/>
          </a:xfrm>
          <a:prstGeom prst="rect">
            <a:avLst/>
          </a:prstGeom>
          <a:solidFill>
            <a:srgbClr val="E6F4F1"/>
          </a:solidFill>
          <a:ln w="1016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51760"/>
            <a:ext cx="73152" cy="8412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2816352"/>
            <a:ext cx="38171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1" i="0">
                <a:solidFill>
                  <a:srgbClr val="111827"/>
                </a:solidFill>
                <a:latin typeface="Aptos"/>
              </a:rPr>
              <a:t>技术边界被产品承诺放大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1055" y="2816352"/>
            <a:ext cx="185312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用户预期超过模型稳定能力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3362" y="2816352"/>
            <a:ext cx="4253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明确可做、不可做与降级路径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93008"/>
            <a:ext cx="10911535" cy="841248"/>
          </a:xfrm>
          <a:prstGeom prst="rect">
            <a:avLst/>
          </a:prstGeom>
          <a:solidFill>
            <a:srgbClr val="F3FBF8"/>
          </a:solidFill>
          <a:ln w="1016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93008"/>
            <a:ext cx="73152" cy="84124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657600"/>
            <a:ext cx="38171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1" i="0">
                <a:solidFill>
                  <a:srgbClr val="111827"/>
                </a:solidFill>
                <a:latin typeface="Aptos"/>
              </a:rPr>
              <a:t>缺少可追溯决策记录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1055" y="3657600"/>
            <a:ext cx="185312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问题复盘依赖人工猜测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3362" y="3657600"/>
            <a:ext cx="4253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记录输入、工具调用与输出版本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2926080" cy="5413248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060704"/>
            <a:ext cx="82296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17904"/>
            <a:ext cx="2084831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111827"/>
                </a:solidFill>
                <a:latin typeface="Aptos Display"/>
              </a:rPr>
              <a:t>下一步从可执行判断开始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248656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80" b="1" i="0">
                <a:solidFill>
                  <a:srgbClr val="2563EB"/>
                </a:solidFill>
                <a:latin typeface="Aptos"/>
              </a:rPr>
              <a:t>行动清单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078992"/>
            <a:ext cx="7077456" cy="950976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1078992"/>
            <a:ext cx="91440" cy="9509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1280160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2352" y="1225295"/>
            <a:ext cx="5760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 i="0">
                <a:solidFill>
                  <a:srgbClr val="111827"/>
                </a:solidFill>
                <a:latin typeface="Aptos"/>
              </a:rPr>
              <a:t>先界定任务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352" y="1554480"/>
            <a:ext cx="5760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40" b="0" i="0">
                <a:solidFill>
                  <a:srgbClr val="4B5563"/>
                </a:solidFill>
                <a:latin typeface="Aptos"/>
              </a:rPr>
              <a:t>产品经理先判断 Agent 是否真能减少人工决策成本。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468880"/>
            <a:ext cx="7077456" cy="950976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2468880"/>
            <a:ext cx="91440" cy="9509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67004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615184"/>
            <a:ext cx="5760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 i="0">
                <a:solidFill>
                  <a:srgbClr val="111827"/>
                </a:solidFill>
                <a:latin typeface="Aptos"/>
              </a:rPr>
              <a:t>再验证边界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944368"/>
            <a:ext cx="5760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40" b="0" i="0">
                <a:solidFill>
                  <a:srgbClr val="4B5563"/>
                </a:solidFill>
                <a:latin typeface="Aptos"/>
              </a:rPr>
              <a:t>用小样本测试能力上限、失败模式和人工接管条件。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858768"/>
            <a:ext cx="7077456" cy="950976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3858768"/>
            <a:ext cx="91440" cy="9509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4059935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4005072"/>
            <a:ext cx="5760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 i="0">
                <a:solidFill>
                  <a:srgbClr val="111827"/>
                </a:solidFill>
                <a:latin typeface="Aptos"/>
              </a:rPr>
              <a:t>最后做闭环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4334256"/>
            <a:ext cx="5760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40" b="0" i="0">
                <a:solidFill>
                  <a:srgbClr val="4B5563"/>
                </a:solidFill>
                <a:latin typeface="Aptos"/>
              </a:rPr>
              <a:t>把用户需求分析、工作流设计和评估指标接入迭代。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