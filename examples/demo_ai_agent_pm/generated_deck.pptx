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BF8"/>
          </a:solidFill>
          <a:ln>
            <a:solidFill>
              <a:srgbClr val="F3F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84464" y="640080"/>
            <a:ext cx="3340303" cy="5440680"/>
          </a:xfrm>
          <a:prstGeom prst="rect">
            <a:avLst/>
          </a:prstGeom>
          <a:solidFill>
            <a:srgbClr val="E6F4F1"/>
          </a:solidFill>
          <a:ln>
            <a:solidFill>
              <a:srgbClr val="E6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31936" y="987552"/>
            <a:ext cx="2681935" cy="1901952"/>
          </a:xfrm>
          <a:prstGeom prst="rect">
            <a:avLst/>
          </a:prstGeom>
          <a:solidFill>
            <a:srgbClr val="F3FBF8"/>
          </a:solidFill>
          <a:ln w="12700">
            <a:solidFill>
              <a:srgbClr val="E6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692079" y="329184"/>
            <a:ext cx="658368" cy="19202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357616" y="5102352"/>
            <a:ext cx="1234440" cy="128016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841248"/>
            <a:ext cx="82296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3310128"/>
            <a:ext cx="3291840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85216"/>
            <a:ext cx="29260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 i="0">
                <a:solidFill>
                  <a:srgbClr val="2563EB"/>
                </a:solidFill>
                <a:latin typeface="Aptos"/>
              </a:rPr>
              <a:t>技术产品分享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225296"/>
            <a:ext cx="717804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 i="0">
                <a:solidFill>
                  <a:srgbClr val="111827"/>
                </a:solidFill>
                <a:latin typeface="Aptos Display"/>
              </a:rPr>
              <a:t>AI 产品经理如何设计 Agent 产品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40864"/>
            <a:ext cx="6931152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0">
                <a:solidFill>
                  <a:srgbClr val="4B5563"/>
                </a:solidFill>
                <a:latin typeface="Aptos"/>
              </a:rPr>
              <a:t>核心不是包装能力，而是定义可交付的技术边界与责任边界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9952" y="1481328"/>
            <a:ext cx="2334463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i="0">
                <a:solidFill>
                  <a:srgbClr val="111827"/>
                </a:solidFill>
                <a:latin typeface="Aptos Display"/>
              </a:rPr>
              <a:t>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2359152"/>
            <a:ext cx="2279599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 i="0">
                <a:solidFill>
                  <a:srgbClr val="4B5563"/>
                </a:solidFill>
                <a:latin typeface="Aptos"/>
              </a:rPr>
              <a:t>技术产品视角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78240" y="3236976"/>
            <a:ext cx="749808" cy="310896"/>
          </a:xfrm>
          <a:prstGeom prst="rect">
            <a:avLst/>
          </a:prstGeom>
          <a:solidFill>
            <a:srgbClr val="F3FBF8"/>
          </a:solidFill>
          <a:ln w="10160">
            <a:solidFill>
              <a:srgbClr val="E6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87968" y="3328416"/>
            <a:ext cx="530352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10" b="1" i="0">
                <a:solidFill>
                  <a:srgbClr val="2563EB"/>
                </a:solidFill>
                <a:latin typeface="Aptos"/>
              </a:rPr>
              <a:t>工作流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131552" y="3236976"/>
            <a:ext cx="749808" cy="310896"/>
          </a:xfrm>
          <a:prstGeom prst="rect">
            <a:avLst/>
          </a:prstGeom>
          <a:solidFill>
            <a:srgbClr val="F3FBF8"/>
          </a:solidFill>
          <a:ln w="10160">
            <a:solidFill>
              <a:srgbClr val="E6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0" y="3328416"/>
            <a:ext cx="530352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10" b="1" i="0">
                <a:solidFill>
                  <a:srgbClr val="2563EB"/>
                </a:solidFill>
                <a:latin typeface="Aptos"/>
              </a:rPr>
              <a:t>边界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7495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111827"/>
                </a:solidFill>
                <a:latin typeface="Aptos Display"/>
              </a:rPr>
              <a:t>责任边界先被重新定义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69848"/>
            <a:ext cx="2011680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10874959" cy="566928"/>
          </a:xfrm>
          <a:prstGeom prst="rect">
            <a:avLst/>
          </a:prstGeom>
          <a:solidFill>
            <a:srgbClr val="E6F4F1"/>
          </a:solidFill>
          <a:ln>
            <a:solidFill>
              <a:srgbClr val="E6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536192"/>
            <a:ext cx="1728216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19" b="1" i="0">
                <a:solidFill>
                  <a:srgbClr val="2563EB"/>
                </a:solidFill>
                <a:latin typeface="Aptos"/>
              </a:rPr>
              <a:t>对比维度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360" y="1472184"/>
            <a:ext cx="804672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 i="0">
                <a:solidFill>
                  <a:srgbClr val="2563EB"/>
                </a:solidFill>
                <a:latin typeface="Aptos"/>
              </a:rPr>
              <a:t>方案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03320" y="1472184"/>
            <a:ext cx="32566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80" b="1" i="0">
                <a:solidFill>
                  <a:srgbClr val="111827"/>
                </a:solidFill>
                <a:latin typeface="Aptos"/>
              </a:rPr>
              <a:t>传统软件产品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89139" y="1472184"/>
            <a:ext cx="804672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 i="0">
                <a:solidFill>
                  <a:srgbClr val="0F766E"/>
                </a:solidFill>
                <a:latin typeface="Aptos"/>
              </a:rPr>
              <a:t>方案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12099" y="1472184"/>
            <a:ext cx="32566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80" b="1" i="0">
                <a:solidFill>
                  <a:srgbClr val="111827"/>
                </a:solidFill>
                <a:latin typeface="Aptos"/>
              </a:rPr>
              <a:t>AI Agent 产品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920240"/>
            <a:ext cx="10874959" cy="530352"/>
          </a:xfrm>
          <a:prstGeom prst="rect">
            <a:avLst/>
          </a:prstGeom>
          <a:solidFill>
            <a:srgbClr val="F3FBF8"/>
          </a:solidFill>
          <a:ln w="7620">
            <a:solidFill>
              <a:srgbClr val="E6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2075688"/>
            <a:ext cx="1728216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19" b="1" i="0">
                <a:solidFill>
                  <a:srgbClr val="111827"/>
                </a:solidFill>
                <a:latin typeface="Aptos"/>
              </a:rPr>
              <a:t>输入输出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057400"/>
            <a:ext cx="4079595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80" b="0" i="0">
                <a:solidFill>
                  <a:srgbClr val="4B5563"/>
                </a:solidFill>
                <a:latin typeface="Aptos"/>
              </a:rPr>
              <a:t>用户发起明确操作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89139" y="2057400"/>
            <a:ext cx="4079595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80" b="0" i="0">
                <a:solidFill>
                  <a:srgbClr val="4B5563"/>
                </a:solidFill>
                <a:latin typeface="Aptos"/>
              </a:rPr>
              <a:t>Agent 拆解目标并调用工具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450592"/>
            <a:ext cx="10874959" cy="530352"/>
          </a:xfrm>
          <a:prstGeom prst="rect">
            <a:avLst/>
          </a:prstGeom>
          <a:solidFill>
            <a:srgbClr val="E6F4F1"/>
          </a:solidFill>
          <a:ln w="7620">
            <a:solidFill>
              <a:srgbClr val="E6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2606040"/>
            <a:ext cx="1728216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19" b="1" i="0">
                <a:solidFill>
                  <a:srgbClr val="111827"/>
                </a:solidFill>
                <a:latin typeface="Aptos"/>
              </a:rPr>
              <a:t>状态管理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2587752"/>
            <a:ext cx="4079595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80" b="0" i="0">
                <a:solidFill>
                  <a:srgbClr val="4B5563"/>
                </a:solidFill>
                <a:latin typeface="Aptos"/>
              </a:rPr>
              <a:t>系统按规则返回结果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89139" y="2587752"/>
            <a:ext cx="4079595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80" b="0" i="0">
                <a:solidFill>
                  <a:srgbClr val="4B5563"/>
                </a:solidFill>
                <a:latin typeface="Aptos"/>
              </a:rPr>
              <a:t>结果受模型、数据与环境共同影响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2980944"/>
            <a:ext cx="10874959" cy="530352"/>
          </a:xfrm>
          <a:prstGeom prst="rect">
            <a:avLst/>
          </a:prstGeom>
          <a:solidFill>
            <a:srgbClr val="F3FBF8"/>
          </a:solidFill>
          <a:ln w="7620">
            <a:solidFill>
              <a:srgbClr val="E6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3136391"/>
            <a:ext cx="1728216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19" b="1" i="0">
                <a:solidFill>
                  <a:srgbClr val="111827"/>
                </a:solidFill>
                <a:latin typeface="Aptos"/>
              </a:rPr>
              <a:t>工具调用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3118103"/>
            <a:ext cx="4079595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80" b="0" i="0">
                <a:solidFill>
                  <a:srgbClr val="4B5563"/>
                </a:solidFill>
                <a:latin typeface="Aptos"/>
              </a:rPr>
              <a:t>产品经理主要定义页面、流程与权限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89139" y="3118103"/>
            <a:ext cx="4079595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80" b="0" i="0">
                <a:solidFill>
                  <a:srgbClr val="4B5563"/>
                </a:solidFill>
                <a:latin typeface="Aptos"/>
              </a:rPr>
              <a:t>产品经理必须定义技术边界、干预点与失败处理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15768" y="1353312"/>
            <a:ext cx="18288" cy="2157984"/>
          </a:xfrm>
          <a:prstGeom prst="rect">
            <a:avLst/>
          </a:prstGeom>
          <a:solidFill>
            <a:srgbClr val="F3FBF8"/>
          </a:solidFill>
          <a:ln>
            <a:solidFill>
              <a:srgbClr val="F3F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24547" y="1353312"/>
            <a:ext cx="18288" cy="2157984"/>
          </a:xfrm>
          <a:prstGeom prst="rect">
            <a:avLst/>
          </a:prstGeom>
          <a:solidFill>
            <a:srgbClr val="F3FBF8"/>
          </a:solidFill>
          <a:ln>
            <a:solidFill>
              <a:srgbClr val="F3F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207007" y="5440680"/>
            <a:ext cx="9777679" cy="512064"/>
          </a:xfrm>
          <a:prstGeom prst="rect">
            <a:avLst/>
          </a:prstGeom>
          <a:solidFill>
            <a:srgbClr val="E6F4F1"/>
          </a:solidFill>
          <a:ln>
            <a:solidFill>
              <a:srgbClr val="E6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99616" y="5568696"/>
            <a:ext cx="9192463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111827"/>
                </a:solidFill>
                <a:latin typeface="Aptos"/>
              </a:rPr>
              <a:t>判断规则：先界定 Agent 可以自主决策什么，再设计用户确认、回退与审计机制。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10029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111827"/>
                </a:solidFill>
                <a:latin typeface="Aptos Display"/>
              </a:rPr>
              <a:t>技术边界决定产品承诺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60704"/>
            <a:ext cx="2011680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1481328"/>
            <a:ext cx="3496970" cy="3337560"/>
          </a:xfrm>
          <a:prstGeom prst="rect">
            <a:avLst/>
          </a:prstGeom>
          <a:solidFill>
            <a:srgbClr val="F3FBF8"/>
          </a:solidFill>
          <a:ln w="12700">
            <a:solidFill>
              <a:srgbClr val="E6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3496970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304946" y="1700784"/>
            <a:ext cx="566928" cy="256032"/>
          </a:xfrm>
          <a:prstGeom prst="rect">
            <a:avLst/>
          </a:prstGeom>
          <a:solidFill>
            <a:srgbClr val="E6F4F1"/>
          </a:solidFill>
          <a:ln>
            <a:solidFill>
              <a:srgbClr val="E6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78098" y="1728216"/>
            <a:ext cx="420623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 i="0">
                <a:solidFill>
                  <a:srgbClr val="2563EB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" y="1682496"/>
            <a:ext cx="238140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 i="0">
                <a:solidFill>
                  <a:srgbClr val="2563EB"/>
                </a:solidFill>
                <a:latin typeface="Aptos"/>
              </a:rPr>
              <a:t>洞察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011680"/>
            <a:ext cx="305805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i="0">
                <a:solidFill>
                  <a:srgbClr val="111827"/>
                </a:solidFill>
                <a:latin typeface="Aptos"/>
              </a:rPr>
              <a:t>模型能力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2542032"/>
            <a:ext cx="3058058" cy="20756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 b="0" i="0">
                <a:solidFill>
                  <a:srgbClr val="4B5563"/>
                </a:solidFill>
                <a:latin typeface="Aptos"/>
              </a:rPr>
              <a:t>理解 Agent 的推理、记忆、多轮上下文与幻觉边界。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7362" y="1481328"/>
            <a:ext cx="3496970" cy="3337560"/>
          </a:xfrm>
          <a:prstGeom prst="rect">
            <a:avLst/>
          </a:prstGeom>
          <a:solidFill>
            <a:srgbClr val="F3FBF8"/>
          </a:solidFill>
          <a:ln w="12700">
            <a:solidFill>
              <a:srgbClr val="E6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7362" y="1481328"/>
            <a:ext cx="3496970" cy="73152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57948" y="1700784"/>
            <a:ext cx="566928" cy="256032"/>
          </a:xfrm>
          <a:prstGeom prst="rect">
            <a:avLst/>
          </a:prstGeom>
          <a:solidFill>
            <a:srgbClr val="E6F4F1"/>
          </a:solidFill>
          <a:ln>
            <a:solidFill>
              <a:srgbClr val="E6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1100" y="1728216"/>
            <a:ext cx="420623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 i="0">
                <a:solidFill>
                  <a:srgbClr val="0F766E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6818" y="1682496"/>
            <a:ext cx="238140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 i="0">
                <a:solidFill>
                  <a:srgbClr val="0F766E"/>
                </a:solidFill>
                <a:latin typeface="Aptos"/>
              </a:rPr>
              <a:t>洞察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6818" y="2011680"/>
            <a:ext cx="305805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i="0">
                <a:solidFill>
                  <a:srgbClr val="111827"/>
                </a:solidFill>
                <a:latin typeface="Aptos"/>
              </a:rPr>
              <a:t>工具边界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6818" y="2542032"/>
            <a:ext cx="3058058" cy="20756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 b="0" i="0">
                <a:solidFill>
                  <a:srgbClr val="4B5563"/>
                </a:solidFill>
                <a:latin typeface="Aptos"/>
              </a:rPr>
              <a:t>明确 API、权限、数据可用性与执行失败的处理方式。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00364" y="1481328"/>
            <a:ext cx="3496970" cy="3337560"/>
          </a:xfrm>
          <a:prstGeom prst="rect">
            <a:avLst/>
          </a:prstGeom>
          <a:solidFill>
            <a:srgbClr val="F3FBF8"/>
          </a:solidFill>
          <a:ln w="12700">
            <a:solidFill>
              <a:srgbClr val="E6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00364" y="1481328"/>
            <a:ext cx="3496970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810951" y="1700784"/>
            <a:ext cx="566928" cy="256032"/>
          </a:xfrm>
          <a:prstGeom prst="rect">
            <a:avLst/>
          </a:prstGeom>
          <a:solidFill>
            <a:srgbClr val="E6F4F1"/>
          </a:solidFill>
          <a:ln>
            <a:solidFill>
              <a:srgbClr val="E6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884103" y="1728216"/>
            <a:ext cx="420623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 i="0">
                <a:solidFill>
                  <a:srgbClr val="2563EB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9820" y="1682496"/>
            <a:ext cx="238140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 i="0">
                <a:solidFill>
                  <a:srgbClr val="2563EB"/>
                </a:solidFill>
                <a:latin typeface="Aptos"/>
              </a:rPr>
              <a:t>洞察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9820" y="2011680"/>
            <a:ext cx="305805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i="0">
                <a:solidFill>
                  <a:srgbClr val="111827"/>
                </a:solidFill>
                <a:latin typeface="Aptos"/>
              </a:rPr>
              <a:t>产品承诺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9820" y="2542032"/>
            <a:ext cx="3058058" cy="20756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 b="0" i="0">
                <a:solidFill>
                  <a:srgbClr val="4B5563"/>
                </a:solidFill>
                <a:latin typeface="Aptos"/>
              </a:rPr>
              <a:t>产品经理只承诺可验证、可回退、可监控的结果。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10029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111827"/>
                </a:solidFill>
                <a:latin typeface="Aptos Display"/>
              </a:rPr>
              <a:t>需求分析要落到可执行任务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60704"/>
            <a:ext cx="2011680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1481328"/>
            <a:ext cx="3496970" cy="3337560"/>
          </a:xfrm>
          <a:prstGeom prst="rect">
            <a:avLst/>
          </a:prstGeom>
          <a:solidFill>
            <a:srgbClr val="F3FBF8"/>
          </a:solidFill>
          <a:ln w="12700">
            <a:solidFill>
              <a:srgbClr val="E6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3496970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304946" y="1700784"/>
            <a:ext cx="566928" cy="256032"/>
          </a:xfrm>
          <a:prstGeom prst="rect">
            <a:avLst/>
          </a:prstGeom>
          <a:solidFill>
            <a:srgbClr val="E6F4F1"/>
          </a:solidFill>
          <a:ln>
            <a:solidFill>
              <a:srgbClr val="E6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78098" y="1728216"/>
            <a:ext cx="420623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 i="0">
                <a:solidFill>
                  <a:srgbClr val="2563EB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" y="1682496"/>
            <a:ext cx="238140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 i="0">
                <a:solidFill>
                  <a:srgbClr val="2563EB"/>
                </a:solidFill>
                <a:latin typeface="Aptos"/>
              </a:rPr>
              <a:t>洞察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011680"/>
            <a:ext cx="305805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i="0">
                <a:solidFill>
                  <a:srgbClr val="111827"/>
                </a:solidFill>
                <a:latin typeface="Aptos"/>
              </a:rPr>
              <a:t>用户场景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2542032"/>
            <a:ext cx="3058058" cy="20756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 b="0" i="0">
                <a:solidFill>
                  <a:srgbClr val="4B5563"/>
                </a:solidFill>
                <a:latin typeface="Aptos"/>
              </a:rPr>
              <a:t>识别高频、耗时、规则明确且结果可验收的工作。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7362" y="1481328"/>
            <a:ext cx="3496970" cy="3337560"/>
          </a:xfrm>
          <a:prstGeom prst="rect">
            <a:avLst/>
          </a:prstGeom>
          <a:solidFill>
            <a:srgbClr val="F3FBF8"/>
          </a:solidFill>
          <a:ln w="12700">
            <a:solidFill>
              <a:srgbClr val="E6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7362" y="1481328"/>
            <a:ext cx="3496970" cy="73152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57948" y="1700784"/>
            <a:ext cx="566928" cy="256032"/>
          </a:xfrm>
          <a:prstGeom prst="rect">
            <a:avLst/>
          </a:prstGeom>
          <a:solidFill>
            <a:srgbClr val="E6F4F1"/>
          </a:solidFill>
          <a:ln>
            <a:solidFill>
              <a:srgbClr val="E6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1100" y="1728216"/>
            <a:ext cx="420623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 i="0">
                <a:solidFill>
                  <a:srgbClr val="0F766E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6818" y="1682496"/>
            <a:ext cx="238140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 i="0">
                <a:solidFill>
                  <a:srgbClr val="0F766E"/>
                </a:solidFill>
                <a:latin typeface="Aptos"/>
              </a:rPr>
              <a:t>洞察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6818" y="2011680"/>
            <a:ext cx="305805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i="0">
                <a:solidFill>
                  <a:srgbClr val="111827"/>
                </a:solidFill>
                <a:latin typeface="Aptos"/>
              </a:rPr>
              <a:t>任务拆解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6818" y="2542032"/>
            <a:ext cx="3058058" cy="20756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 b="0" i="0">
                <a:solidFill>
                  <a:srgbClr val="4B5563"/>
                </a:solidFill>
                <a:latin typeface="Aptos"/>
              </a:rPr>
              <a:t>把意图拆成输入、约束、工具调用与交付物。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00364" y="1481328"/>
            <a:ext cx="3496970" cy="3337560"/>
          </a:xfrm>
          <a:prstGeom prst="rect">
            <a:avLst/>
          </a:prstGeom>
          <a:solidFill>
            <a:srgbClr val="F3FBF8"/>
          </a:solidFill>
          <a:ln w="12700">
            <a:solidFill>
              <a:srgbClr val="E6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00364" y="1481328"/>
            <a:ext cx="3496970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810951" y="1700784"/>
            <a:ext cx="566928" cy="256032"/>
          </a:xfrm>
          <a:prstGeom prst="rect">
            <a:avLst/>
          </a:prstGeom>
          <a:solidFill>
            <a:srgbClr val="E6F4F1"/>
          </a:solidFill>
          <a:ln>
            <a:solidFill>
              <a:srgbClr val="E6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884103" y="1728216"/>
            <a:ext cx="420623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 i="0">
                <a:solidFill>
                  <a:srgbClr val="2563EB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9820" y="1682496"/>
            <a:ext cx="238140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 i="0">
                <a:solidFill>
                  <a:srgbClr val="2563EB"/>
                </a:solidFill>
                <a:latin typeface="Aptos"/>
              </a:rPr>
              <a:t>洞察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9820" y="2011680"/>
            <a:ext cx="305805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i="0">
                <a:solidFill>
                  <a:srgbClr val="111827"/>
                </a:solidFill>
                <a:latin typeface="Aptos"/>
              </a:rPr>
              <a:t>验收标准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9820" y="2542032"/>
            <a:ext cx="3058058" cy="20756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 b="0" i="0">
                <a:solidFill>
                  <a:srgbClr val="4B5563"/>
                </a:solidFill>
                <a:latin typeface="Aptos"/>
              </a:rPr>
              <a:t>定义准确率、时延、人工介入率与落地风险阈值。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111827"/>
                </a:solidFill>
                <a:latin typeface="Aptos Display"/>
              </a:rPr>
              <a:t>工作流设计决定 Agent 可控性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69848"/>
            <a:ext cx="2011680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5995263" y="1901952"/>
            <a:ext cx="201168" cy="0"/>
          </a:xfrm>
          <a:prstGeom prst="line">
            <a:avLst/>
          </a:prstGeom>
          <a:ln w="12700">
            <a:solidFill>
              <a:srgbClr val="E6F4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995263" y="3794760"/>
            <a:ext cx="201168" cy="0"/>
          </a:xfrm>
          <a:prstGeom prst="line">
            <a:avLst/>
          </a:prstGeom>
          <a:ln w="12700">
            <a:solidFill>
              <a:srgbClr val="E6F4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640080" y="1572768"/>
            <a:ext cx="5300319" cy="1417320"/>
          </a:xfrm>
          <a:prstGeom prst="rect">
            <a:avLst/>
          </a:prstGeom>
          <a:solidFill>
            <a:srgbClr val="F3FBF8"/>
          </a:solidFill>
          <a:ln w="12700">
            <a:solidFill>
              <a:srgbClr val="E6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7" y="1737360"/>
            <a:ext cx="530352" cy="32918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1810512"/>
            <a:ext cx="310896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19" b="1" i="0">
                <a:solidFill>
                  <a:srgbClr val="F3FBF8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212848"/>
            <a:ext cx="486140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60" b="1" i="0">
                <a:solidFill>
                  <a:srgbClr val="111827"/>
                </a:solidFill>
                <a:latin typeface="Aptos"/>
              </a:rPr>
              <a:t>任务触发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560320"/>
            <a:ext cx="4861407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80" b="0" i="0">
                <a:solidFill>
                  <a:srgbClr val="4B5563"/>
                </a:solidFill>
                <a:latin typeface="Aptos"/>
              </a:rPr>
              <a:t>明确用户意图、输入来源和授权条件。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51295" y="1572768"/>
            <a:ext cx="5300319" cy="1417320"/>
          </a:xfrm>
          <a:prstGeom prst="rect">
            <a:avLst/>
          </a:prstGeom>
          <a:solidFill>
            <a:srgbClr val="F3FBF8"/>
          </a:solidFill>
          <a:ln w="12700">
            <a:solidFill>
              <a:srgbClr val="E6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52463" y="1737360"/>
            <a:ext cx="530352" cy="329184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2191" y="1810512"/>
            <a:ext cx="310896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19" b="1" i="0">
                <a:solidFill>
                  <a:srgbClr val="F3FBF8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0751" y="2212848"/>
            <a:ext cx="486140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60" b="1" i="0">
                <a:solidFill>
                  <a:srgbClr val="111827"/>
                </a:solidFill>
                <a:latin typeface="Aptos"/>
              </a:rPr>
              <a:t>计划拆解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0751" y="2560320"/>
            <a:ext cx="4861407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80" b="0" i="0">
                <a:solidFill>
                  <a:srgbClr val="4B5563"/>
                </a:solidFill>
                <a:latin typeface="Aptos"/>
              </a:rPr>
              <a:t>把目标拆成可验证的子任务和依赖关系。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465576"/>
            <a:ext cx="5300319" cy="1417320"/>
          </a:xfrm>
          <a:prstGeom prst="rect">
            <a:avLst/>
          </a:prstGeom>
          <a:solidFill>
            <a:srgbClr val="F3FBF8"/>
          </a:solidFill>
          <a:ln w="12700">
            <a:solidFill>
              <a:srgbClr val="E6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1247" y="3630168"/>
            <a:ext cx="530352" cy="32918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" y="3703320"/>
            <a:ext cx="310896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19" b="1" i="0">
                <a:solidFill>
                  <a:srgbClr val="F3FBF8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4105656"/>
            <a:ext cx="486140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60" b="1" i="0">
                <a:solidFill>
                  <a:srgbClr val="111827"/>
                </a:solidFill>
                <a:latin typeface="Aptos"/>
              </a:rPr>
              <a:t>工具调用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" y="4453128"/>
            <a:ext cx="4861407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80" b="0" i="0">
                <a:solidFill>
                  <a:srgbClr val="4B5563"/>
                </a:solidFill>
                <a:latin typeface="Aptos"/>
              </a:rPr>
              <a:t>定义工具边界、失败回退和人工确认点。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51295" y="3465576"/>
            <a:ext cx="5300319" cy="1417320"/>
          </a:xfrm>
          <a:prstGeom prst="rect">
            <a:avLst/>
          </a:prstGeom>
          <a:solidFill>
            <a:srgbClr val="F3FBF8"/>
          </a:solidFill>
          <a:ln w="12700">
            <a:solidFill>
              <a:srgbClr val="E6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52463" y="3630168"/>
            <a:ext cx="530352" cy="329184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62191" y="3703320"/>
            <a:ext cx="310896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19" b="1" i="0">
                <a:solidFill>
                  <a:srgbClr val="F3FBF8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0751" y="4105656"/>
            <a:ext cx="486140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60" b="1" i="0">
                <a:solidFill>
                  <a:srgbClr val="111827"/>
                </a:solidFill>
                <a:latin typeface="Aptos"/>
              </a:rPr>
              <a:t>结果交付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0751" y="4453128"/>
            <a:ext cx="4861407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80" b="0" i="0">
                <a:solidFill>
                  <a:srgbClr val="4B5563"/>
                </a:solidFill>
                <a:latin typeface="Aptos"/>
              </a:rPr>
              <a:t>输出要可追溯、可编辑、可中止。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111827"/>
                </a:solidFill>
                <a:latin typeface="Aptos Display"/>
              </a:rPr>
              <a:t>评估指标要同时看效果与风险</a:t>
            </a:r>
          </a:p>
        </p:txBody>
      </p:sp>
      <p:sp>
        <p:nvSpPr>
          <p:cNvPr id="3" name="Rectangle 2"/>
          <p:cNvSpPr/>
          <p:nvPr/>
        </p:nvSpPr>
        <p:spPr>
          <a:xfrm>
            <a:off x="768096" y="1335024"/>
            <a:ext cx="5071719" cy="1572768"/>
          </a:xfrm>
          <a:prstGeom prst="rect">
            <a:avLst/>
          </a:prstGeom>
          <a:solidFill>
            <a:srgbClr val="F3FBF8"/>
          </a:solidFill>
          <a:ln w="12700">
            <a:solidFill>
              <a:srgbClr val="E6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8096" y="1335024"/>
            <a:ext cx="5071719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53431" y="1554480"/>
            <a:ext cx="566928" cy="256032"/>
          </a:xfrm>
          <a:prstGeom prst="rect">
            <a:avLst/>
          </a:prstGeom>
          <a:solidFill>
            <a:srgbClr val="E6F4F1"/>
          </a:solidFill>
          <a:ln>
            <a:solidFill>
              <a:srgbClr val="E6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6583" y="1581912"/>
            <a:ext cx="420623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 i="0">
                <a:solidFill>
                  <a:srgbClr val="2563EB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1536192"/>
            <a:ext cx="3956151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 i="0">
                <a:solidFill>
                  <a:srgbClr val="2563EB"/>
                </a:solidFill>
                <a:latin typeface="Aptos"/>
              </a:rPr>
              <a:t>重点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1865376"/>
            <a:ext cx="4632807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i="0">
                <a:solidFill>
                  <a:srgbClr val="111827"/>
                </a:solidFill>
                <a:latin typeface="Aptos"/>
              </a:rPr>
              <a:t>任务成功率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395728"/>
            <a:ext cx="4632807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60" b="0" i="0">
                <a:solidFill>
                  <a:srgbClr val="4B5563"/>
                </a:solidFill>
                <a:latin typeface="Aptos"/>
              </a:rPr>
              <a:t>衡量 AI Agent 是否完成真实业务目标。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1879" y="1335024"/>
            <a:ext cx="5071719" cy="1572768"/>
          </a:xfrm>
          <a:prstGeom prst="rect">
            <a:avLst/>
          </a:prstGeom>
          <a:solidFill>
            <a:srgbClr val="F3FBF8"/>
          </a:solidFill>
          <a:ln w="12700">
            <a:solidFill>
              <a:srgbClr val="E6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1879" y="1335024"/>
            <a:ext cx="5071719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637215" y="1554480"/>
            <a:ext cx="566928" cy="256032"/>
          </a:xfrm>
          <a:prstGeom prst="rect">
            <a:avLst/>
          </a:prstGeom>
          <a:solidFill>
            <a:srgbClr val="E6F4F1"/>
          </a:solidFill>
          <a:ln>
            <a:solidFill>
              <a:srgbClr val="E6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10367" y="1581912"/>
            <a:ext cx="420623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 i="0">
                <a:solidFill>
                  <a:srgbClr val="2563EB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1335" y="1536192"/>
            <a:ext cx="3956151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 i="0">
                <a:solidFill>
                  <a:srgbClr val="2563EB"/>
                </a:solidFill>
                <a:latin typeface="Aptos"/>
              </a:rPr>
              <a:t>重点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71335" y="1865376"/>
            <a:ext cx="4632807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i="0">
                <a:solidFill>
                  <a:srgbClr val="111827"/>
                </a:solidFill>
                <a:latin typeface="Aptos"/>
              </a:rPr>
              <a:t>干预成本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71335" y="2395728"/>
            <a:ext cx="4632807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60" b="0" i="0">
                <a:solidFill>
                  <a:srgbClr val="4B5563"/>
                </a:solidFill>
                <a:latin typeface="Aptos"/>
              </a:rPr>
              <a:t>记录产品经理需设计的确认、纠错与接管频率。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3218688"/>
            <a:ext cx="5071719" cy="1572768"/>
          </a:xfrm>
          <a:prstGeom prst="rect">
            <a:avLst/>
          </a:prstGeom>
          <a:solidFill>
            <a:srgbClr val="F3FBF8"/>
          </a:solidFill>
          <a:ln w="12700">
            <a:solidFill>
              <a:srgbClr val="E6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3218688"/>
            <a:ext cx="5071719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53431" y="3438144"/>
            <a:ext cx="566928" cy="256032"/>
          </a:xfrm>
          <a:prstGeom prst="rect">
            <a:avLst/>
          </a:prstGeom>
          <a:solidFill>
            <a:srgbClr val="E6F4F1"/>
          </a:solidFill>
          <a:ln>
            <a:solidFill>
              <a:srgbClr val="E6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6583" y="3465575"/>
            <a:ext cx="420623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 i="0">
                <a:solidFill>
                  <a:srgbClr val="2563EB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3419856"/>
            <a:ext cx="3956151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 i="0">
                <a:solidFill>
                  <a:srgbClr val="2563EB"/>
                </a:solidFill>
                <a:latin typeface="Aptos"/>
              </a:rPr>
              <a:t>重点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" y="3749039"/>
            <a:ext cx="4632807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i="0">
                <a:solidFill>
                  <a:srgbClr val="111827"/>
                </a:solidFill>
                <a:latin typeface="Aptos"/>
              </a:rPr>
              <a:t>技术边界命中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" y="4279392"/>
            <a:ext cx="4632807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60" b="0" i="0">
                <a:solidFill>
                  <a:srgbClr val="4B5563"/>
                </a:solidFill>
                <a:latin typeface="Aptos"/>
              </a:rPr>
              <a:t>监控模型、工具和权限限制导致的失败。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1879" y="3218688"/>
            <a:ext cx="5071719" cy="1572768"/>
          </a:xfrm>
          <a:prstGeom prst="rect">
            <a:avLst/>
          </a:prstGeom>
          <a:solidFill>
            <a:srgbClr val="F3FBF8"/>
          </a:solidFill>
          <a:ln w="12700">
            <a:solidFill>
              <a:srgbClr val="E6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1879" y="3218688"/>
            <a:ext cx="5071719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637215" y="3438144"/>
            <a:ext cx="566928" cy="256032"/>
          </a:xfrm>
          <a:prstGeom prst="rect">
            <a:avLst/>
          </a:prstGeom>
          <a:solidFill>
            <a:srgbClr val="E6F4F1"/>
          </a:solidFill>
          <a:ln>
            <a:solidFill>
              <a:srgbClr val="E6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710367" y="3465575"/>
            <a:ext cx="420623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 i="0">
                <a:solidFill>
                  <a:srgbClr val="2563EB"/>
                </a:solidFill>
                <a:latin typeface="Aptos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71335" y="3419856"/>
            <a:ext cx="3956151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 i="0">
                <a:solidFill>
                  <a:srgbClr val="2563EB"/>
                </a:solidFill>
                <a:latin typeface="Aptos"/>
              </a:rPr>
              <a:t>重点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71335" y="3749039"/>
            <a:ext cx="4632807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i="0">
                <a:solidFill>
                  <a:srgbClr val="111827"/>
                </a:solidFill>
                <a:latin typeface="Aptos"/>
              </a:rPr>
              <a:t>落地风险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71335" y="4279392"/>
            <a:ext cx="4632807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60" b="0" i="0">
                <a:solidFill>
                  <a:srgbClr val="4B5563"/>
                </a:solidFill>
                <a:latin typeface="Aptos"/>
              </a:rPr>
              <a:t>跟踪错误执行、越权操作和用户信任损耗。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111827"/>
                </a:solidFill>
                <a:latin typeface="Aptos Display"/>
              </a:rPr>
              <a:t>落地风险需要前置治理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69848"/>
            <a:ext cx="2011680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911535" cy="43891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490472"/>
            <a:ext cx="3162507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 i="0">
                <a:solidFill>
                  <a:srgbClr val="F3FBF8"/>
                </a:solidFill>
                <a:latin typeface="Aptos"/>
              </a:rPr>
              <a:t>风险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6363" y="1490472"/>
            <a:ext cx="2071353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 i="0">
                <a:solidFill>
                  <a:srgbClr val="F3FBF8"/>
                </a:solidFill>
                <a:latin typeface="Aptos"/>
              </a:rPr>
              <a:t>影响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96901" y="1490472"/>
            <a:ext cx="4690122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 i="0">
                <a:solidFill>
                  <a:srgbClr val="F3FBF8"/>
                </a:solidFill>
                <a:latin typeface="Aptos"/>
              </a:rPr>
              <a:t>缓解措施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10512"/>
            <a:ext cx="10911535" cy="841248"/>
          </a:xfrm>
          <a:prstGeom prst="rect">
            <a:avLst/>
          </a:prstGeom>
          <a:solidFill>
            <a:srgbClr val="F3FBF8"/>
          </a:solidFill>
          <a:ln w="10160">
            <a:solidFill>
              <a:srgbClr val="E6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975104"/>
            <a:ext cx="316250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20" b="1" i="0">
                <a:solidFill>
                  <a:srgbClr val="111827"/>
                </a:solidFill>
                <a:latin typeface="Aptos"/>
              </a:rPr>
              <a:t>AI Agent 越权调用工具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6363" y="1975104"/>
            <a:ext cx="2071353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20" b="0" i="0">
                <a:solidFill>
                  <a:srgbClr val="4B5563"/>
                </a:solidFill>
                <a:latin typeface="Aptos"/>
              </a:rPr>
              <a:t>误操作业务系统或泄露数据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96901" y="1975104"/>
            <a:ext cx="469012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20" b="0" i="0">
                <a:solidFill>
                  <a:srgbClr val="4B5563"/>
                </a:solidFill>
                <a:latin typeface="Aptos"/>
              </a:rPr>
              <a:t>按角色授权，关键动作二次确认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651760"/>
            <a:ext cx="10911535" cy="841248"/>
          </a:xfrm>
          <a:prstGeom prst="rect">
            <a:avLst/>
          </a:prstGeom>
          <a:solidFill>
            <a:srgbClr val="E6F4F1"/>
          </a:solidFill>
          <a:ln w="10160">
            <a:solidFill>
              <a:srgbClr val="E6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2816352"/>
            <a:ext cx="316250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20" b="1" i="0">
                <a:solidFill>
                  <a:srgbClr val="111827"/>
                </a:solidFill>
                <a:latin typeface="Aptos"/>
              </a:rPr>
              <a:t>技术边界被产品承诺放大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6363" y="2816352"/>
            <a:ext cx="2071353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20" b="0" i="0">
                <a:solidFill>
                  <a:srgbClr val="4B5563"/>
                </a:solidFill>
                <a:latin typeface="Aptos"/>
              </a:rPr>
              <a:t>用户预期超过模型稳定能力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96901" y="2816352"/>
            <a:ext cx="469012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20" b="0" i="0">
                <a:solidFill>
                  <a:srgbClr val="4B5563"/>
                </a:solidFill>
                <a:latin typeface="Aptos"/>
              </a:rPr>
              <a:t>明确可做、不可做与降级路径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493008"/>
            <a:ext cx="10911535" cy="841248"/>
          </a:xfrm>
          <a:prstGeom prst="rect">
            <a:avLst/>
          </a:prstGeom>
          <a:solidFill>
            <a:srgbClr val="F3FBF8"/>
          </a:solidFill>
          <a:ln w="10160">
            <a:solidFill>
              <a:srgbClr val="E6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" y="3657600"/>
            <a:ext cx="316250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20" b="1" i="0">
                <a:solidFill>
                  <a:srgbClr val="111827"/>
                </a:solidFill>
                <a:latin typeface="Aptos"/>
              </a:rPr>
              <a:t>缺少可追溯决策记录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6363" y="3657600"/>
            <a:ext cx="2071353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20" b="0" i="0">
                <a:solidFill>
                  <a:srgbClr val="4B5563"/>
                </a:solidFill>
                <a:latin typeface="Aptos"/>
              </a:rPr>
              <a:t>问题复盘依赖人工猜测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96901" y="3657600"/>
            <a:ext cx="469012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20" b="0" i="0">
                <a:solidFill>
                  <a:srgbClr val="4B5563"/>
                </a:solidFill>
                <a:latin typeface="Aptos"/>
              </a:rPr>
              <a:t>记录输入、工具调用与输出版本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480560" y="1463040"/>
            <a:ext cx="32004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25880" y="1874519"/>
            <a:ext cx="953993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 i="0">
                <a:solidFill>
                  <a:srgbClr val="111827"/>
                </a:solidFill>
                <a:latin typeface="Aptos Display"/>
              </a:rPr>
              <a:t>下一步从可执行判断开始</a:t>
            </a:r>
          </a:p>
        </p:txBody>
      </p:sp>
      <p:sp>
        <p:nvSpPr>
          <p:cNvPr id="4" name="Rectangle 3"/>
          <p:cNvSpPr/>
          <p:nvPr/>
        </p:nvSpPr>
        <p:spPr>
          <a:xfrm>
            <a:off x="2331720" y="2807208"/>
            <a:ext cx="530352" cy="274320"/>
          </a:xfrm>
          <a:prstGeom prst="rect">
            <a:avLst/>
          </a:prstGeom>
          <a:solidFill>
            <a:srgbClr val="E6F4F1"/>
          </a:solidFill>
          <a:ln>
            <a:solidFill>
              <a:srgbClr val="E6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395728" y="2843784"/>
            <a:ext cx="402336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 i="0">
                <a:solidFill>
                  <a:srgbClr val="2563EB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62656" y="2779776"/>
            <a:ext cx="661385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50" b="1" i="0">
                <a:solidFill>
                  <a:srgbClr val="111827"/>
                </a:solidFill>
                <a:latin typeface="Aptos"/>
              </a:rPr>
              <a:t>先界定任务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62656" y="3026663"/>
            <a:ext cx="6613855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60" b="0" i="0">
                <a:solidFill>
                  <a:srgbClr val="4B5563"/>
                </a:solidFill>
                <a:latin typeface="Aptos"/>
              </a:rPr>
              <a:t>产品经理先判断 Agent 是否真能减少人工决策成本。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2331720" y="3502151"/>
            <a:ext cx="530352" cy="274320"/>
          </a:xfrm>
          <a:prstGeom prst="rect">
            <a:avLst/>
          </a:prstGeom>
          <a:solidFill>
            <a:srgbClr val="E6F4F1"/>
          </a:solidFill>
          <a:ln>
            <a:solidFill>
              <a:srgbClr val="E6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95728" y="3538727"/>
            <a:ext cx="402336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 i="0">
                <a:solidFill>
                  <a:srgbClr val="2563EB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62656" y="3474720"/>
            <a:ext cx="661385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50" b="1" i="0">
                <a:solidFill>
                  <a:srgbClr val="111827"/>
                </a:solidFill>
                <a:latin typeface="Aptos"/>
              </a:rPr>
              <a:t>再验证边界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62656" y="3721607"/>
            <a:ext cx="6613855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60" b="0" i="0">
                <a:solidFill>
                  <a:srgbClr val="4B5563"/>
                </a:solidFill>
                <a:latin typeface="Aptos"/>
              </a:rPr>
              <a:t>用小样本测试能力上限、失败模式和人工接管条件。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31720" y="4197096"/>
            <a:ext cx="530352" cy="274320"/>
          </a:xfrm>
          <a:prstGeom prst="rect">
            <a:avLst/>
          </a:prstGeom>
          <a:solidFill>
            <a:srgbClr val="E6F4F1"/>
          </a:solidFill>
          <a:ln>
            <a:solidFill>
              <a:srgbClr val="E6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95728" y="4233672"/>
            <a:ext cx="402336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 i="0">
                <a:solidFill>
                  <a:srgbClr val="2563EB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62656" y="4169664"/>
            <a:ext cx="661385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50" b="1" i="0">
                <a:solidFill>
                  <a:srgbClr val="111827"/>
                </a:solidFill>
                <a:latin typeface="Aptos"/>
              </a:rPr>
              <a:t>最后做闭环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62656" y="4416552"/>
            <a:ext cx="6613855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60" b="0" i="0">
                <a:solidFill>
                  <a:srgbClr val="4B5563"/>
                </a:solidFill>
                <a:latin typeface="Aptos"/>
              </a:rPr>
              <a:t>把用户需求分析、工作流设计和评估指标接入迭代。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