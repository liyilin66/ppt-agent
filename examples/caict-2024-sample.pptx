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智能的变化已经不只是模型性能提升，而是技术、工程和产业协同推进的系统性变革。大模型的可扩展、多任务和可塑能力，使人工智能开始具备进入复杂业务流程的基础。对企业而言，观察窗口正在从“技术是否成熟”转向“哪些业务应当优先重构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战略窗口期并不意味着企业应当全面铺开人工智能项目，而是要尽快形成清晰的优先级。机会侧要聚焦能够改善效率、产品或客户体验的重点场景，治理侧则要把安全、合规和可追溯嵌入应用全生命周期。董事会需要推动两条线并行，而不是先发展、后补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智能产业已经不是单点技术突破，而是形成了由基础模型、算力、数据和应用共同推动的增长周期。2024年的6233亿美元规模和21.5%的增速，说明产业仍处于扩张阶段。对企业而言，关键不是是否关注人工智能，而是判断自身处于产业链和应用链的哪个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本数据反映出，人工智能正在获得超越一般技术周期的资源配置。融资规模增长与独角兽持续涌现，说明市场不仅在押注底层模型，也在寻找垂直行业和工具型应用的商业化机会。企业需要关注外部生态变化，因为供应商、合作伙伴和竞争对手都可能快速重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来两年的核心变化，是生成式人工智能从少数团队的试验工具转变为企业级基础能力。超过80%的采用预期意味着，观望本身也会产生机会成本。董事会和管理层应尽快明确优先场景、投入边界以及与风险治理相匹配的落地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础模型的进步并非单点突破，而是缩放定律下算力、数据和工程投入共同作用的结果。技术演进已经从单一语言能力，进入语言、视觉和多模态协同发展的阶段。对企业而言，模型选择不应只看单项参数，而要关注与业务场景匹配的模态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能力提升正在同时体现在“看得更长”和“用得更省”两个方向。上下文窗口扩大，有助于处理企业知识库、长文档和复杂流程；参数效率提升，则可能降低部署和推理门槛。管理层需要把模型性能与单位任务成本放在同一张决策表中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推理能力的提升，为专业分析和复杂任务自动化创造了机会，但可靠性问题仍然存在。企业不宜把通用模型直接等同于业务专家，而应通过领域微调、知识图谱或RAG增强事实依据。更稳妥的路径是按风险分级，把模型能力嵌入可验证、可追溯的业务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技术竞争已经不只是比拼模型能力，更要看模型能否被企业稳定、低风险地使用。幻觉会直接影响业务可信度，训练成本限制复制速度，而数据质量决定模型表现的上限。值得关注的是，CriticGPT对自然发生的LLM错误评审准确率达到63%，说明模型评审和反馈机制正在成为提升可靠性的关键路径；合成数据则可能成为缓解数据瓶颈的重要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内容生成是企业接触人工智能最自然的入口，因为需求高频、部署相对灵活，也便于快速获得员工反馈。但企业不应只追求生成效果，还要同步验证知识准确性、使用渗透率和风险控制能力。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工业场景的价值不在于简单替代人工，而在于把实时感知、分析判断和精准执行连接起来。建议企业从数据基础较好、反馈周期较短的工艺或设备环节切入，再逐步扩展到跨流程优化。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当人工智能进入供应链和客户运营，价值会从单个岗位的效率提升，转化为订单、库存、营销和服务之间的协同优化。董事会需要关注的不是部署了多少工具，而是是否形成可持续的数据闭环和业务闭环。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制造业不宜从最复杂的全流程智能化切入，而应优先选择视觉质检等边界清晰、结果可验证的场景。TCL案例表明，准确率和周期效率可以同时改善，为企业筛选首批人工智能项目提供了现实参照。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这个案例的价值不只是减少零部件数量，更在于把结构简化、轻量化和强度提升结合起来。对装备企业而言，设计与仿真环节通常数据积累较多、验证路径较清晰，适合作为高价值试点。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供应链案例体现的是端到端协同，而不是单一岗位提效。与此同时，HumanEval数据显示模型能力已具备较强代码生成基础，但企业仍需通过智能体工作流、工具调用和持续运营，把模型能力转化为可控的业务执行。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智能安全不能只理解为网络安全，也不能只依赖模型上线前的一次测试。企业应把数据、模型、内容、基础设施和业务责任放在同一条风险链上，并明确技术提供方、应用提供方和应用使用方各自的控制责任。这样才能在释放应用价值的同时，降低隐私、合规、运营和声誉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不宜只追逐模型能力，而应从高价值、可衡量的业务场景切入。推进过程中，数据与模型能力要同步建设，安全治理也要前置，形成风险识别、评估和防御的闭环。经过试点验证后，再将成熟方案复制到更多业务单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442515"/>
            <a:ext cx="57150" cy="159197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42515"/>
            <a:ext cx="81915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3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咨询汇报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9060"/>
            <a:ext cx="8191500" cy="653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4800"/>
              </a:lnSpc>
            </a:pPr>
            <a:r>
              <a:rPr sz="4000" b="1" i="0" lang="zh-CN" altLang="en-US">
                <a:solidFill>
                  <a:srgbClr val="12355B"/>
                </a:solidFill>
                <a:latin typeface="Microsoft YaHei"/>
                <a:ea typeface="Microsoft YaHei"/>
              </a:rPr>
              <a:t>人工智能发展：企业机会与治理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82594"/>
            <a:ext cx="8191500" cy="35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520"/>
              </a:lnSpc>
            </a:pPr>
            <a:r>
              <a:rPr sz="18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基于中国信通院《人工智能发展报告（2024年）》的管理层咨询汇报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5943600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38100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52550"/>
            <a:ext cx="6096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1A1F2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400" y="1352550"/>
            <a:ext cx="3733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从技术浪潮到管理命题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1352550"/>
            <a:ext cx="5715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430"/>
              </a:lnSpc>
            </a:pPr>
            <a:r>
              <a:rPr sz="1100" b="0" i="0">
                <a:solidFill>
                  <a:srgbClr val="5F6B78"/>
                </a:solidFill>
                <a:latin typeface="Microsoft YaHei"/>
                <a:ea typeface="Microsoft YaHei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019300"/>
            <a:ext cx="51435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2095500"/>
            <a:ext cx="6096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1A1F2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2095500"/>
            <a:ext cx="3733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总体态势：产业进入加速期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095500"/>
            <a:ext cx="5715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430"/>
              </a:lnSpc>
            </a:pPr>
            <a:r>
              <a:rPr sz="1100" b="0" i="0">
                <a:solidFill>
                  <a:srgbClr val="5F6B78"/>
                </a:solidFill>
                <a:latin typeface="Microsoft YaHei"/>
                <a:ea typeface="Microsoft YaHei"/>
              </a:rPr>
              <a:t>05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762250"/>
            <a:ext cx="51435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838450"/>
            <a:ext cx="6096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1A1F2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2838450"/>
            <a:ext cx="3733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技术创新：能力快速演进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838450"/>
            <a:ext cx="5715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430"/>
              </a:lnSpc>
            </a:pPr>
            <a:r>
              <a:rPr sz="1100" b="0" i="0">
                <a:solidFill>
                  <a:srgbClr val="5F6B78"/>
                </a:solidFill>
                <a:latin typeface="Microsoft YaHei"/>
                <a:ea typeface="Microsoft YaHei"/>
              </a:rPr>
              <a:t>08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505200"/>
            <a:ext cx="51435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581400"/>
            <a:ext cx="6096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1A1F2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581400"/>
            <a:ext cx="3733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技术瓶颈：能力之外仍有约束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581400"/>
            <a:ext cx="5715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430"/>
              </a:lnSpc>
            </a:pPr>
            <a:r>
              <a:rPr sz="1100" b="0" i="0">
                <a:solidFill>
                  <a:srgbClr val="5F6B78"/>
                </a:solidFill>
                <a:latin typeface="Microsoft YaHei"/>
                <a:ea typeface="Microsoft YaHei"/>
              </a:rPr>
              <a:t>11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248150"/>
            <a:ext cx="51435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62700" y="1352550"/>
            <a:ext cx="6096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1A1F2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2300" y="1352550"/>
            <a:ext cx="3733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应用赋能：从试用走向业务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4700" y="1352550"/>
            <a:ext cx="5715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430"/>
              </a:lnSpc>
            </a:pPr>
            <a:r>
              <a:rPr sz="1100" b="0" i="0">
                <a:solidFill>
                  <a:srgbClr val="5F6B78"/>
                </a:solidFill>
                <a:latin typeface="Microsoft YaHei"/>
                <a:ea typeface="Microsoft YaHei"/>
              </a:rPr>
              <a:t>12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62700" y="2019300"/>
            <a:ext cx="51435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62700" y="2095500"/>
            <a:ext cx="6096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1A1F26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2300" y="2095500"/>
            <a:ext cx="3733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应用价值：用案例验证收益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34700" y="2095500"/>
            <a:ext cx="5715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430"/>
              </a:lnSpc>
            </a:pPr>
            <a:r>
              <a:rPr sz="1100" b="0" i="0">
                <a:solidFill>
                  <a:srgbClr val="5F6B78"/>
                </a:solidFill>
                <a:latin typeface="Microsoft YaHei"/>
                <a:ea typeface="Microsoft YaHei"/>
              </a:rPr>
              <a:t>15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62700" y="2762250"/>
            <a:ext cx="51435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62700" y="2838450"/>
            <a:ext cx="6096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1A1F26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2300" y="2838450"/>
            <a:ext cx="3733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安全治理：机会伴随系统性风险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34700" y="2838450"/>
            <a:ext cx="5715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430"/>
              </a:lnSpc>
            </a:pPr>
            <a:r>
              <a:rPr sz="1100" b="0" i="0">
                <a:solidFill>
                  <a:srgbClr val="5F6B78"/>
                </a:solidFill>
                <a:latin typeface="Microsoft YaHei"/>
                <a:ea typeface="Microsoft YaHei"/>
              </a:rPr>
              <a:t>18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62700" y="3505200"/>
            <a:ext cx="51435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62700" y="3581400"/>
            <a:ext cx="6096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1A1F26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2300" y="3581400"/>
            <a:ext cx="37338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发展展望：形成企业行动路线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34700" y="3581400"/>
            <a:ext cx="571500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430"/>
              </a:lnSpc>
            </a:pPr>
            <a:r>
              <a:rPr sz="1100" b="0" i="0">
                <a:solidFill>
                  <a:srgbClr val="5F6B78"/>
                </a:solidFill>
                <a:latin typeface="Microsoft YaHei"/>
                <a:ea typeface="Microsoft YaHei"/>
              </a:rPr>
              <a:t>19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62700" y="4248150"/>
            <a:ext cx="51435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从技术浪潮到管理命题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人工智能产业进入加速期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技术突破正转化为产业规模与资本投入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7–13 页；toutiao.com · 2024年终盘点｜ AI进入发展下半场 亟需加…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28591"/>
            <a:ext cx="5181600" cy="1905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0041"/>
            <a:ext cx="5181600" cy="72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5313"/>
              </a:lnSpc>
            </a:pPr>
            <a:r>
              <a:rPr sz="4620" b="1" i="0">
                <a:solidFill>
                  <a:srgbClr val="12355B"/>
                </a:solidFill>
                <a:latin typeface="Microsoft YaHei"/>
                <a:ea typeface="Microsoft YaHei"/>
              </a:rPr>
              <a:t>12.1%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77982"/>
            <a:ext cx="5181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融资占比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52860"/>
            <a:ext cx="5181600" cy="316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2024年上半年全行业融资占比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600" y="2328591"/>
            <a:ext cx="51816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600" y="2500041"/>
            <a:ext cx="5181600" cy="72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5313"/>
              </a:lnSpc>
            </a:pPr>
            <a:r>
              <a:rPr sz="4620" b="1" i="0" lang="zh-CN" altLang="en-US">
                <a:solidFill>
                  <a:srgbClr val="12355B"/>
                </a:solidFill>
                <a:latin typeface="Microsoft YaHei"/>
                <a:ea typeface="Microsoft YaHei"/>
              </a:rPr>
              <a:t>近百个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3277982"/>
            <a:ext cx="5181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基础模型新增迭代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3752860"/>
            <a:ext cx="5181600" cy="316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2024年以来，全球新增或迭代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45340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4526290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人工智能已从模型创新迈向规模化产业发展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从技术浪潮到管理命题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应用落地与安全治理必须并行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人工智能正从技术试验走向产业化应用，治理要求同步进入企业全生命周期。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7、9、10、11 页；idc.com · IDC - 智能体安全：2026年AI落地过程…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58166"/>
            <a:ext cx="34036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72466"/>
            <a:ext cx="34036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70153"/>
            <a:ext cx="3403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机会侧：聚焦落地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5032"/>
            <a:ext cx="340360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人工智能工程化重点转向应用开发和产业落地，制造业智能升级成为重要方向。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48230"/>
            <a:ext cx="34036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7、9 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4200" y="2158166"/>
            <a:ext cx="34036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4200" y="2272466"/>
            <a:ext cx="34036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4200" y="2770153"/>
            <a:ext cx="3403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治理侧：覆盖全程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4200" y="3245032"/>
            <a:ext cx="340360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安全治理工具链覆盖数据、模型、部署、应用、监控运维与安全可信全流程。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4200" y="4448230"/>
            <a:ext cx="34036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9、10 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2600" y="2158166"/>
            <a:ext cx="34036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2600" y="2272466"/>
            <a:ext cx="34036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2600" y="2770153"/>
            <a:ext cx="3403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管理命题：双线并行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2600" y="3245032"/>
            <a:ext cx="340360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应用部署应与智能体全生命周期检测和管控同步推进，平衡创新价值与风险边界。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2600" y="4448230"/>
            <a:ext cx="34036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11 页；IDC网页 第 1 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49575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250" y="5130525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企业应以重点场景牵引投入，并将安全、合规与可追溯嵌入应用全流程。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总体态势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人工智能产业进入加速期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大模型与生成式人工智能共同推动产业扩张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12 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62394"/>
            <a:ext cx="5257800" cy="2041393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29094"/>
            <a:ext cx="4724400" cy="688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5071"/>
              </a:lnSpc>
            </a:pPr>
            <a:r>
              <a:rPr sz="4410" b="1" i="0" lang="zh-CN" altLang="en-US">
                <a:solidFill>
                  <a:srgbClr val="FFFFFF"/>
                </a:solidFill>
                <a:latin typeface="Microsoft YaHei"/>
                <a:ea typeface="Microsoft YaHei"/>
              </a:rPr>
              <a:t>翻倍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294188"/>
            <a:ext cx="47244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FFFFFF"/>
                </a:solidFill>
                <a:latin typeface="Microsoft YaHei"/>
                <a:ea typeface="Microsoft YaHei"/>
              </a:rPr>
              <a:t>较2022年增长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769066"/>
            <a:ext cx="4724400" cy="2680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884"/>
              </a:lnSpc>
            </a:pPr>
            <a:r>
              <a:rPr sz="1300" b="0" i="0" lang="zh-CN" altLang="en-US">
                <a:solidFill>
                  <a:srgbClr val="E6ECF3"/>
                </a:solidFill>
                <a:latin typeface="Microsoft YaHei"/>
                <a:ea typeface="Microsoft YaHei"/>
              </a:rPr>
              <a:t>全球基础模型数量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400" y="2262394"/>
            <a:ext cx="5257800" cy="20413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5100" y="2529094"/>
            <a:ext cx="4724400" cy="688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5071"/>
              </a:lnSpc>
            </a:pPr>
            <a:r>
              <a:rPr sz="4410" b="1" i="0" lang="zh-CN" altLang="en-US">
                <a:solidFill>
                  <a:srgbClr val="12355B"/>
                </a:solidFill>
                <a:latin typeface="Microsoft YaHei"/>
                <a:ea typeface="Microsoft YaHei"/>
              </a:rPr>
              <a:t>近百个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294188"/>
            <a:ext cx="47244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新增或迭代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3769066"/>
            <a:ext cx="4724400" cy="2680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884"/>
              </a:lnSpc>
            </a:pPr>
            <a:r>
              <a:rPr sz="13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2024年以来全球基础模型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80037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4760987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2024年全球人工智能产业规模预计达美元，同比增长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总体态势：产业进入加速期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资本集中与创业涌现同步加速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资本押注大模型，创业生态同步扩容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12、13 页；221.179.172.81 · 网页资料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53986"/>
            <a:ext cx="5166360" cy="591058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450" y="2153986"/>
            <a:ext cx="4671060" cy="5910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sz="20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资本加速集中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935544"/>
            <a:ext cx="4499610" cy="1504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2024年上半年融资316亿美元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同比上升84%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2023年生成式融资252亿美元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约为2022年的9倍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约占2023年人工智能投资四分之一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840" y="2153986"/>
            <a:ext cx="5166360" cy="2534158"/>
          </a:xfrm>
          <a:prstGeom prst="rect">
            <a:avLst/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840" y="2153986"/>
            <a:ext cx="5166360" cy="59105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7490" y="2153986"/>
            <a:ext cx="4671060" cy="5910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sz="2000" b="1" i="0" lang="zh-CN" altLang="en-US">
                <a:solidFill>
                  <a:srgbClr val="FFFFFF"/>
                </a:solidFill>
                <a:latin typeface="Microsoft YaHei"/>
                <a:ea typeface="Microsoft YaHei"/>
              </a:rPr>
              <a:t>创业生态扩容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7490" y="2935544"/>
            <a:ext cx="4499610" cy="1504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全球人工智能独角兽达242家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2024年上半年新增15家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新增15家占所有新增独角兽40%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覆盖生物制药、软件与数据平台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垂直行业成为创新涌现的重要场景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164394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50" y="5145344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人工智能竞争正从技术热度走向产业势能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总体态势：产业进入加速期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生成式人工智能走向普遍部署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应用门槛下降，企业采用预期快速提升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12 页；cn.wicinternet.org · 网页资料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842782"/>
            <a:ext cx="10820400" cy="0"/>
          </a:xfrm>
          <a:prstGeom prst="line">
            <a:avLst/>
          </a:prstGeom>
          <a:ln w="38100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269515"/>
            <a:ext cx="3429000" cy="4018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97"/>
              </a:lnSpc>
            </a:pPr>
            <a:r>
              <a:rPr sz="2520" b="1" i="0">
                <a:solidFill>
                  <a:srgbClr val="12355B"/>
                </a:solidFill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66582"/>
            <a:ext cx="152400" cy="15240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90432"/>
            <a:ext cx="34290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产业规模化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46261"/>
            <a:ext cx="3429000" cy="7322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全球AI产业6233亿美元，同比增长21.5%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2269515"/>
            <a:ext cx="3429000" cy="4018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97"/>
              </a:lnSpc>
            </a:pPr>
            <a:r>
              <a:rPr sz="2520" b="1" i="0">
                <a:solidFill>
                  <a:srgbClr val="12355B"/>
                </a:solidFill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4381500" y="2766582"/>
            <a:ext cx="152400" cy="15240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1500" y="3090432"/>
            <a:ext cx="34290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行业初步应用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1500" y="3546261"/>
            <a:ext cx="3429000" cy="7322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行业大模型进入金融、医疗、教育等领域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2269515"/>
            <a:ext cx="3429000" cy="4018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97"/>
              </a:lnSpc>
            </a:pPr>
            <a:r>
              <a:rPr sz="2520" b="1" i="0">
                <a:solidFill>
                  <a:srgbClr val="D9822B"/>
                </a:solidFill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Oval 17"/>
          <p:cNvSpPr/>
          <p:nvPr/>
        </p:nvSpPr>
        <p:spPr>
          <a:xfrm>
            <a:off x="8077200" y="2766582"/>
            <a:ext cx="152400" cy="1524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7200" y="3090432"/>
            <a:ext cx="34290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企业普遍部署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7200" y="3546261"/>
            <a:ext cx="3429000" cy="7322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超过80%企业使用API或部署生成式AI应用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754793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50" y="4735743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2026年，生成式人工智能预计进入企业普遍部署阶段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技术创新：能力快速演进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基础模型持续跨模态跃迁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缩放定律与数据工程共同推动模型能力边界扩展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资料来源：《人工智能发展报告（2024年）》第 14–15、30–35 页；intl.cloud.baidu.com · 从Scaling Law到数据效率：AI模型架…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32833"/>
            <a:ext cx="24765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47133"/>
            <a:ext cx="24765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44820"/>
            <a:ext cx="24765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缩放定律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19699"/>
            <a:ext cx="247650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算力、参数量与数据量协同投入，持续推动模型能力提升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67100" y="2232833"/>
            <a:ext cx="24765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7100" y="2347133"/>
            <a:ext cx="24765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7100" y="2844820"/>
            <a:ext cx="24765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能力扩展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7100" y="3319699"/>
            <a:ext cx="224790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模型能力从自然语言处理拓展至多模态理解与生成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2232833"/>
            <a:ext cx="24765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0" y="2347133"/>
            <a:ext cx="24765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2844820"/>
            <a:ext cx="24765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演进加速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3319699"/>
            <a:ext cx="224790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2022年ChatGPT兴起，2023年国内模型快速涌现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9700" y="2232833"/>
            <a:ext cx="24765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9700" y="2347133"/>
            <a:ext cx="24765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9700" y="2844820"/>
            <a:ext cx="24765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落地探索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9700" y="3319699"/>
            <a:ext cx="224790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2024年推理理解能力跃迁，并开始探索垂类应用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884847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50" y="4865797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模型演进已从语言能力升级，进入多模态融合与垂类落地阶段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技术创新：能力快速演进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模型使用经济性正在被重塑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模型演进同时沿着更长上下文与更高参数效率展开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资料来源：《人工智能发展报告（2024年）》第 14–17、23–25 页；intl.cloud.baidu.com · 从Scaling Law到数据效率：AI模型架…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10157"/>
            <a:ext cx="4914900" cy="2278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2495907"/>
            <a:ext cx="4343400" cy="446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3240"/>
              </a:lnSpc>
            </a:pPr>
            <a:r>
              <a:rPr sz="27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看得更长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114346"/>
            <a:ext cx="417195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主流模型上下文均达128k以上</a:t>
            </a:r>
          </a:p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Gemini-1.5上下文达1000k</a:t>
            </a:r>
          </a:p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可一次处理数十万字或单词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1300" y="2210157"/>
            <a:ext cx="4914900" cy="2278837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7050" y="2495907"/>
            <a:ext cx="4343400" cy="446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3240"/>
              </a:lnSpc>
            </a:pPr>
            <a:r>
              <a:rPr sz="2700" b="1" i="0" lang="zh-CN" altLang="en-US">
                <a:solidFill>
                  <a:srgbClr val="FFFFFF"/>
                </a:solidFill>
                <a:latin typeface="Microsoft YaHei"/>
                <a:ea typeface="Microsoft YaHei"/>
              </a:rPr>
              <a:t>用得更省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7050" y="3114346"/>
            <a:ext cx="417195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E6ECF3"/>
                </a:solidFill>
                <a:latin typeface="Microsoft YaHei"/>
                <a:ea typeface="Microsoft YaHei"/>
              </a:rPr>
              <a:t>•  GPT-3：1750亿参数</a:t>
            </a:r>
          </a:p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E6ECF3"/>
                </a:solidFill>
                <a:latin typeface="Microsoft YaHei"/>
                <a:ea typeface="Microsoft YaHei"/>
              </a:rPr>
              <a:t>•  MiniCPM-2.4B：24亿参数</a:t>
            </a:r>
          </a:p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E6ECF3"/>
                </a:solidFill>
                <a:latin typeface="Microsoft YaHei"/>
                <a:ea typeface="Microsoft YaHei"/>
              </a:rPr>
              <a:t>•  同等性能，知识密度提高约86倍</a:t>
            </a:r>
          </a:p>
        </p:txBody>
      </p:sp>
      <p:sp>
        <p:nvSpPr>
          <p:cNvPr id="14" name="Oval 13"/>
          <p:cNvSpPr/>
          <p:nvPr/>
        </p:nvSpPr>
        <p:spPr>
          <a:xfrm>
            <a:off x="5791200" y="3044775"/>
            <a:ext cx="609600" cy="6096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1200" y="3044775"/>
            <a:ext cx="609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965244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4946194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企业应将模型性能与单位任务成本放在同一张决策表中评估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技术创新：能力快速演进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能力跃迁必须以可靠性治理为前提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推理能力提升仍需分层应用与治理机制承接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14–19、30–33 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60953"/>
            <a:ext cx="533400" cy="3281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D9822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360953"/>
            <a:ext cx="2263140" cy="3281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推理能力跃迁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0940" y="2360953"/>
            <a:ext cx="7795260" cy="3281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强化学习与思维链提升复杂推理，o1具备自我反思与错误修正能力（第 15–16 页）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911651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134231"/>
            <a:ext cx="533400" cy="3281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D9822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134231"/>
            <a:ext cx="2263140" cy="3281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可靠性仍受限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0940" y="3134231"/>
            <a:ext cx="7795260" cy="3281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开放复杂场景泛化能力仍不强，幻觉问题无法彻底消除（第 16–17 页）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684928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907509"/>
            <a:ext cx="533400" cy="6134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>
                <a:solidFill>
                  <a:srgbClr val="D9822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907509"/>
            <a:ext cx="2263140" cy="6134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340"/>
              </a:lnSpc>
            </a:pPr>
            <a:r>
              <a:rPr sz="18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组合方式更稳妥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940" y="3907509"/>
            <a:ext cx="7604760" cy="6134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用领域微调、知识图谱与RAG增强事实依据，Agent和大小模型组合支撑落地（第 17–18、31 页）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219749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50" y="5200699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企业应把模型能力嵌入可验证、可追溯的业务流程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技术瓶颈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技术能力提升仍受落地约束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模型能力跃迁并不等于企业价值稳定兑现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14–19、34–38 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53986"/>
            <a:ext cx="5166360" cy="591058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450" y="2153986"/>
            <a:ext cx="4671060" cy="5910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sz="20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技术机会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935544"/>
            <a:ext cx="4499610" cy="1207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上下文窗口持续扩展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MoE提升知识承载与推理效率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强化学习增强复杂推理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多模态生成拓展应用边界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840" y="2153986"/>
            <a:ext cx="5166360" cy="2534158"/>
          </a:xfrm>
          <a:prstGeom prst="rect">
            <a:avLst/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840" y="2153986"/>
            <a:ext cx="5166360" cy="59105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7490" y="2153986"/>
            <a:ext cx="4671060" cy="5910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sz="2000" b="1" i="0" lang="zh-CN" altLang="en-US">
                <a:solidFill>
                  <a:srgbClr val="FFFFFF"/>
                </a:solidFill>
                <a:latin typeface="Microsoft YaHei"/>
                <a:ea typeface="Microsoft YaHei"/>
              </a:rPr>
              <a:t>落地约束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7490" y="2935544"/>
            <a:ext cx="4499610" cy="1504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幻觉仍影响输出可靠性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训练成本仍受数据与算力制约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数据质量决定精度与公平性上限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CriticGPT评审准确率达63%</a:t>
            </a:r>
          </a:p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预计2026年可用文本数据趋于耗尽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164394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50" y="5145344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企业应同步建设可靠性、成本与数据治理能力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应用赋能：从试用走向业务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内容生成正在成为企业应用的高频入口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生成式人工智能适合从高频内容任务切入企业应用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8、10、50 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36621"/>
            <a:ext cx="34036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50921"/>
            <a:ext cx="34036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48609"/>
            <a:ext cx="3403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覆盖高频任务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23487"/>
            <a:ext cx="3403600" cy="7322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文案、报告、知识问答等任务适合优先试用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70069"/>
            <a:ext cx="34036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8 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4200" y="2236621"/>
            <a:ext cx="34036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4200" y="2350921"/>
            <a:ext cx="34036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4200" y="2848609"/>
            <a:ext cx="3403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增强专业能力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4200" y="3323487"/>
            <a:ext cx="3403600" cy="7322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接入企业知识库与RAG，提升专业性与可控性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4200" y="4170069"/>
            <a:ext cx="34036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10 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2600" y="2236621"/>
            <a:ext cx="34036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2600" y="2350921"/>
            <a:ext cx="34036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2600" y="2848609"/>
            <a:ext cx="3403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同步建立治理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2600" y="3323487"/>
            <a:ext cx="3403600" cy="7322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落实人工审核、权限管理与内容溯源机制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2600" y="4170069"/>
            <a:ext cx="34036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50 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71414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250" y="4852364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先验证效率与质量，再以知识增强和治理机制扩大应用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应用赋能：从试用走向业务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工业制造走向智能优化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人工智能正贯穿中试、生产、质检与运维环节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资料来源：cn.investing.com · 八部门：到2027年 我国人工智能关键核心技术…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81051"/>
            <a:ext cx="5181600" cy="1428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95351"/>
            <a:ext cx="4572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>
                <a:solidFill>
                  <a:srgbClr val="D9822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95351"/>
            <a:ext cx="47244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中试验证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32130"/>
            <a:ext cx="4724400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虚拟仿真与多模态分析优化工艺流程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600" y="2181051"/>
            <a:ext cx="5181600" cy="1428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600" y="2295351"/>
            <a:ext cx="4572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>
                <a:solidFill>
                  <a:srgbClr val="D9822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2295351"/>
            <a:ext cx="47244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生产制造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2732130"/>
            <a:ext cx="4724400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工艺优化、排产调度与过程控制智能化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60196"/>
            <a:ext cx="5181600" cy="1428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74496"/>
            <a:ext cx="4572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>
                <a:solidFill>
                  <a:srgbClr val="D9822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74496"/>
            <a:ext cx="47244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质检预警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11274"/>
            <a:ext cx="4724400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机器视觉与智能巡检强化质量安全预警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600" y="3260196"/>
            <a:ext cx="5181600" cy="1428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600" y="3374496"/>
            <a:ext cx="4572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>
                <a:solidFill>
                  <a:srgbClr val="D9822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0" y="3374496"/>
            <a:ext cx="47244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设备运维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3811274"/>
            <a:ext cx="4724400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预测性维护降低故障与停机风险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663190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50" y="4644140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制造智能化的重点，是连接感知、分析、决策与执行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应用赋能：从试用走向业务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供应链与客户运营走向智能协同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人工智能将订单、预测、库存、营销与客服连接为连续运营链条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9–10 页；cn.investing.com · 网页资料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52623"/>
            <a:ext cx="4914900" cy="2540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2438373"/>
            <a:ext cx="4343400" cy="4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3120"/>
              </a:lnSpc>
            </a:pPr>
            <a:r>
              <a:rPr sz="26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传统分段运营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040962"/>
            <a:ext cx="4171950" cy="1366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sz="17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订单、预测与库存相互割裂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sz="17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供应链更多依赖事后响应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sz="17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营销、售后与客服各自运营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sz="17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数据难以形成持续优化闭环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1300" y="2152623"/>
            <a:ext cx="4914900" cy="254035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7050" y="2438373"/>
            <a:ext cx="4343400" cy="431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3120"/>
              </a:lnSpc>
            </a:pPr>
            <a:r>
              <a:rPr sz="2600" b="1" i="0" lang="zh-CN" altLang="en-US">
                <a:solidFill>
                  <a:srgbClr val="FFFFFF"/>
                </a:solidFill>
                <a:latin typeface="Microsoft YaHei"/>
                <a:ea typeface="Microsoft YaHei"/>
              </a:rPr>
              <a:t>智能协同运营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7050" y="3040962"/>
            <a:ext cx="4171950" cy="1366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sz="1700" b="0" i="0" lang="zh-CN" altLang="en-US">
                <a:solidFill>
                  <a:srgbClr val="E6ECF3"/>
                </a:solidFill>
                <a:latin typeface="Microsoft YaHei"/>
                <a:ea typeface="Microsoft YaHei"/>
              </a:rPr>
              <a:t>•  订单处理、销量预测、库存预警协同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sz="1700" b="0" i="0" lang="zh-CN" altLang="en-US">
                <a:solidFill>
                  <a:srgbClr val="E6ECF3"/>
                </a:solidFill>
                <a:latin typeface="Microsoft YaHei"/>
                <a:ea typeface="Microsoft YaHei"/>
              </a:rPr>
              <a:t>•  供应链决策转向主动预测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sz="1700" b="0" i="0" lang="zh-CN" altLang="en-US">
                <a:solidFill>
                  <a:srgbClr val="E6ECF3"/>
                </a:solidFill>
                <a:latin typeface="Microsoft YaHei"/>
                <a:ea typeface="Microsoft YaHei"/>
              </a:rPr>
              <a:t>•  智能客服连接个性化推荐与售后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sz="1700" b="0" i="0" lang="zh-CN" altLang="en-US">
                <a:solidFill>
                  <a:srgbClr val="E6ECF3"/>
                </a:solidFill>
                <a:latin typeface="Microsoft YaHei"/>
                <a:ea typeface="Microsoft YaHei"/>
              </a:rPr>
              <a:t>•  营销、服务与运营数据闭环优化</a:t>
            </a:r>
          </a:p>
        </p:txBody>
      </p:sp>
      <p:sp>
        <p:nvSpPr>
          <p:cNvPr id="14" name="Oval 13"/>
          <p:cNvSpPr/>
          <p:nvPr/>
        </p:nvSpPr>
        <p:spPr>
          <a:xfrm>
            <a:off x="5791200" y="3118000"/>
            <a:ext cx="609600" cy="6096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1200" y="3118000"/>
            <a:ext cx="609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169228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5150178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竞争焦点从单点提效转向跨部门数据与业务闭环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应用价值：用案例验证收益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视觉质检已兑现效率收益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TCL液晶面板缺陷检测同时改善准确率与生产周期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40 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28591"/>
            <a:ext cx="5181600" cy="1905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0041"/>
            <a:ext cx="5181600" cy="72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5313"/>
              </a:lnSpc>
            </a:pPr>
            <a:r>
              <a:rPr sz="4620" b="1" i="0" lang="zh-CN" altLang="en-US">
                <a:solidFill>
                  <a:srgbClr val="12355B"/>
                </a:solidFill>
                <a:latin typeface="Microsoft YaHei"/>
                <a:ea typeface="Microsoft YaHei"/>
              </a:rPr>
              <a:t>超90%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77982"/>
            <a:ext cx="5181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缺陷检测准确率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52860"/>
            <a:ext cx="5181600" cy="316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TCL液晶面板缺陷检测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600" y="2328591"/>
            <a:ext cx="51816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600" y="2500041"/>
            <a:ext cx="5181600" cy="72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5313"/>
              </a:lnSpc>
            </a:pPr>
            <a:r>
              <a:rPr sz="4620" b="1" i="0" lang="zh-CN" altLang="en-US">
                <a:solidFill>
                  <a:srgbClr val="12355B"/>
                </a:solidFill>
                <a:latin typeface="Microsoft YaHei"/>
                <a:ea typeface="Microsoft YaHei"/>
              </a:rPr>
              <a:t>缩短60%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3277982"/>
            <a:ext cx="51816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生产周期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3752860"/>
            <a:ext cx="5181600" cy="316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25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TCL液晶面板缺陷检测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45340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4526290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制造业应优先选择边界清晰、结果可验证的视觉场景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北汽福田案例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设计优化同时改善重量与强度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AI辅助设计实现结构简化与性能提升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42 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34185"/>
            <a:ext cx="5166360" cy="642569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450" y="2234185"/>
            <a:ext cx="4671060" cy="64256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990"/>
              </a:lnSpc>
            </a:pPr>
            <a:r>
              <a:rPr sz="23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原结构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067254"/>
            <a:ext cx="449961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零部件：4个</a:t>
            </a:r>
          </a:p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结构较重</a:t>
            </a:r>
          </a:p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存在产品质量缺陷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840" y="2234185"/>
            <a:ext cx="5166360" cy="2169617"/>
          </a:xfrm>
          <a:prstGeom prst="rect">
            <a:avLst/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840" y="2234185"/>
            <a:ext cx="5166360" cy="642569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7490" y="2234185"/>
            <a:ext cx="4671060" cy="64256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2990"/>
              </a:lnSpc>
            </a:pPr>
            <a:r>
              <a:rPr sz="2300" b="1" i="0" lang="zh-CN" altLang="en-US">
                <a:solidFill>
                  <a:srgbClr val="FFFFFF"/>
                </a:solidFill>
                <a:latin typeface="Microsoft YaHei"/>
                <a:ea typeface="Microsoft YaHei"/>
              </a:rPr>
              <a:t>AI优化后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7490" y="3067254"/>
            <a:ext cx="449961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零部件：1个</a:t>
            </a:r>
          </a:p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重量减轻70%</a:t>
            </a:r>
          </a:p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•  强度增强18.8%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880052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50" y="4861002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从4个零件变为1个，重量减轻70%，强度增强18.8%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应用价值：用案例验证收益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供应链与智能体扩展系统能力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价值正从单点生成延伸至跨流程协同与任务执行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43、48 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58166"/>
            <a:ext cx="24765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72466"/>
            <a:ext cx="24765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70153"/>
            <a:ext cx="24765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端到端协同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5032"/>
            <a:ext cx="2476500" cy="7322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AI已贯穿采购、仓储、运配、客服与营销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48230"/>
            <a:ext cx="24765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43 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7100" y="2158166"/>
            <a:ext cx="24765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7100" y="2272466"/>
            <a:ext cx="24765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7100" y="2770153"/>
            <a:ext cx="24765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运营成效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7100" y="3245032"/>
            <a:ext cx="247650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采购自动化率超过85%，平均现货率超过95%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100" y="4448230"/>
            <a:ext cx="24765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43 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8400" y="2158166"/>
            <a:ext cx="24765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0" y="2272466"/>
            <a:ext cx="24765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2770153"/>
            <a:ext cx="24765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库存效率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3245032"/>
            <a:ext cx="2247900" cy="7322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库存周转天数降至近30天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400" y="4448230"/>
            <a:ext cx="24765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43 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9700" y="2158166"/>
            <a:ext cx="2476500" cy="1905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700" y="2272466"/>
            <a:ext cx="2476500" cy="3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470"/>
              </a:lnSpc>
            </a:pPr>
            <a:r>
              <a:rPr sz="1900" b="1" i="0">
                <a:solidFill>
                  <a:srgbClr val="D9822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9700" y="2770153"/>
            <a:ext cx="24765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执行基础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9700" y="3245032"/>
            <a:ext cx="2476500" cy="1088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00"/>
              </a:lnSpc>
            </a:pPr>
            <a:r>
              <a:rPr sz="1800" b="0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HumanEval零样本：GPT-4正确率67.0%，GPT-3.5为48.0%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9700" y="4448230"/>
            <a:ext cx="2476500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2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 48 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149575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250" y="5130525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供应链端到端协同与智能体工作流共同放大AI价值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150"/>
            <a:ext cx="10820400" cy="193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320"/>
              </a:lnSpc>
            </a:pPr>
            <a:r>
              <a:rPr sz="11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安全治理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7746"/>
            <a:ext cx="10820400" cy="3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79"/>
              </a:lnSpc>
            </a:pPr>
            <a:r>
              <a:rPr sz="24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安全治理必须覆盖全链条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2436"/>
            <a:ext cx="10820400" cy="296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sz="15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风险已从模型本身扩展至基础设施与应用生态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651254"/>
            <a:ext cx="10820400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52–53、57 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79102"/>
            <a:ext cx="3403600" cy="1965447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45802"/>
            <a:ext cx="2870200" cy="61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4496"/>
              </a:lnSpc>
            </a:pPr>
            <a:r>
              <a:rPr sz="3910" b="1" i="0" lang="zh-CN" altLang="en-US">
                <a:solidFill>
                  <a:srgbClr val="FFFFFF"/>
                </a:solidFill>
                <a:latin typeface="Microsoft YaHei"/>
                <a:ea typeface="Microsoft YaHei"/>
              </a:rPr>
              <a:t>超10亿美元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234950"/>
            <a:ext cx="28702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FFFFFF"/>
                </a:solidFill>
                <a:latin typeface="Microsoft YaHei"/>
                <a:ea typeface="Microsoft YaHei"/>
              </a:rPr>
              <a:t>算力遭劫持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709829"/>
            <a:ext cx="2870200" cy="2680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884"/>
              </a:lnSpc>
            </a:pPr>
            <a:r>
              <a:rPr sz="1300" b="0" i="0" lang="zh-CN" altLang="en-US">
                <a:solidFill>
                  <a:srgbClr val="E6ECF3"/>
                </a:solidFill>
                <a:latin typeface="Microsoft YaHei"/>
                <a:ea typeface="Microsoft YaHei"/>
              </a:rPr>
              <a:t>Ray框架漏洞被恶意利用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4200" y="2279102"/>
            <a:ext cx="3403600" cy="19654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0900" y="2545802"/>
            <a:ext cx="2870200" cy="61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4496"/>
              </a:lnSpc>
            </a:pPr>
            <a:r>
              <a:rPr sz="3910" b="1" i="0" lang="zh-CN" altLang="en-US">
                <a:solidFill>
                  <a:srgbClr val="12355B"/>
                </a:solidFill>
                <a:latin typeface="Microsoft YaHei"/>
                <a:ea typeface="Microsoft YaHei"/>
              </a:rPr>
              <a:t>1919个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3234950"/>
            <a:ext cx="28702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深度合成算法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900" y="3709829"/>
            <a:ext cx="2870200" cy="2680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884"/>
              </a:lnSpc>
            </a:pPr>
            <a:r>
              <a:rPr sz="13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截至8月完成国家网信办备案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2600" y="2279102"/>
            <a:ext cx="3403600" cy="19654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9300" y="2545802"/>
            <a:ext cx="2870200" cy="612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4496"/>
              </a:lnSpc>
            </a:pPr>
            <a:r>
              <a:rPr sz="3910" b="1" i="0" lang="zh-CN" altLang="en-US">
                <a:solidFill>
                  <a:srgbClr val="12355B"/>
                </a:solidFill>
                <a:latin typeface="Microsoft YaHei"/>
                <a:ea typeface="Microsoft YaHei"/>
              </a:rPr>
              <a:t>190个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9300" y="3234950"/>
            <a:ext cx="2870200" cy="379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730"/>
              </a:lnSpc>
            </a:pPr>
            <a:r>
              <a:rPr sz="21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生成式AI服务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9300" y="3709829"/>
            <a:ext cx="2870200" cy="2680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884"/>
              </a:lnSpc>
            </a:pPr>
            <a:r>
              <a:rPr sz="13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截至8月完成国家网信办备案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720799"/>
            <a:ext cx="38100" cy="238506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50" y="4701749"/>
            <a:ext cx="10648950" cy="276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950"/>
              </a:lnSpc>
            </a:pPr>
            <a:r>
              <a:rPr sz="1500" b="1" i="0" lang="zh-CN" altLang="en-US">
                <a:solidFill>
                  <a:srgbClr val="1A1F26"/>
                </a:solidFill>
                <a:latin typeface="Microsoft YaHei"/>
                <a:ea typeface="Microsoft YaHei"/>
              </a:rPr>
              <a:t>企业应以全流程、全角色治理替代单点防护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34700" y="6362700"/>
            <a:ext cx="5715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eaLnBrk="1" hangingPunct="1" latinLnBrk="0">
              <a:lnSpc>
                <a:spcPts val="1300"/>
              </a:lnSpc>
            </a:pPr>
            <a:r>
              <a:rPr sz="1000" b="0" i="0">
                <a:solidFill>
                  <a:srgbClr val="5F6B78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362700"/>
            <a:ext cx="100584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1" hangingPunct="1" latinLnBrk="0">
              <a:lnSpc>
                <a:spcPts val="1300"/>
              </a:lnSpc>
            </a:pPr>
            <a:r>
              <a:rPr sz="1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资料来源：中国信息通信研究院《人工智能发展报告（2024年）》第 60、62–63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5430"/>
            <a:ext cx="57150" cy="245005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1825430"/>
            <a:ext cx="8135112" cy="225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1560"/>
              </a:lnSpc>
            </a:pPr>
            <a:r>
              <a:rPr sz="1300" b="1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企业行动路线：从场景到规模化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241024"/>
            <a:ext cx="8135112" cy="14169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5292"/>
              </a:lnSpc>
            </a:pPr>
            <a:r>
              <a:rPr sz="4410" b="1" i="0" lang="zh-CN" altLang="en-US">
                <a:solidFill>
                  <a:srgbClr val="12355B"/>
                </a:solidFill>
                <a:latin typeface="Microsoft YaHei"/>
                <a:ea typeface="Microsoft YaHei"/>
              </a:rPr>
              <a:t>先试点验证价值，再将成熟方案复制推广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886609"/>
            <a:ext cx="8135112" cy="3888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800"/>
              </a:lnSpc>
            </a:pPr>
            <a:r>
              <a:rPr sz="20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第1阶段 场景筛选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675636"/>
            <a:ext cx="57150" cy="150672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675636"/>
            <a:ext cx="8572500" cy="906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6720"/>
              </a:lnSpc>
            </a:pPr>
            <a:r>
              <a:rPr sz="5600" b="1" i="0" lang="zh-CN" altLang="en-US">
                <a:solidFill>
                  <a:srgbClr val="12355B"/>
                </a:solidFill>
                <a:latin typeface="Microsoft YaHei"/>
                <a:ea typeface="Microsoft YaHei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8964"/>
            <a:ext cx="8572500" cy="3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1" hangingPunct="1" latinLnBrk="0">
              <a:lnSpc>
                <a:spcPts val="2379"/>
              </a:lnSpc>
            </a:pPr>
            <a:r>
              <a:rPr sz="1700" b="0" i="0" lang="zh-CN" altLang="en-US">
                <a:solidFill>
                  <a:srgbClr val="5F6B78"/>
                </a:solidFill>
                <a:latin typeface="Microsoft YaHei"/>
                <a:ea typeface="Microsoft YaHei"/>
              </a:rPr>
              <a:t>人工智能发展：企业机会与治理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